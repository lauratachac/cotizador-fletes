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s-C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722"/>
  </p:normalViewPr>
  <p:slideViewPr>
    <p:cSldViewPr snapToGrid="0">
      <p:cViewPr varScale="1">
        <p:scale>
          <a:sx n="104" d="100"/>
          <a:sy n="104" d="100"/>
        </p:scale>
        <p:origin x="232" y="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Hoja_de_c_lculo_de_Microsoft_Excel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Hoja_de_c_lculo_de_Microsoft_Excel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Hoja_de_c_lculo_de_Microsoft_Excel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Hoja_de_c_lculo_de_Microsoft_Excel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Hoja_de_c_lculo_de_Microsoft_Excel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rgbClr val="1F2A24"/>
                </a:solidFill>
                <a:latin typeface="+mn-lt"/>
                <a:ea typeface="+mn-ea"/>
                <a:cs typeface="+mn-cs"/>
              </a:defRPr>
            </a:pPr>
            <a:r>
              <a:rPr lang="es-MX" sz="1100" b="0" i="0" u="none" strike="noStrike">
                <a:solidFill>
                  <a:srgbClr val="1F2A24"/>
                </a:solidFill>
                <a:latin typeface="+mn-lt"/>
              </a:rPr>
              <a:t>Composición del cobro estimado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rgbClr val="1F2A24"/>
              </a:solidFill>
              <a:latin typeface="+mn-lt"/>
              <a:ea typeface="+mn-ea"/>
              <a:cs typeface="+mn-cs"/>
            </a:defRPr>
          </a:pPr>
          <a:endParaRPr lang="es-CA"/>
        </a:p>
      </c:txPr>
    </c:title>
    <c:autoTitleDeleted val="0"/>
    <c:plotArea>
      <c:layout>
        <c:manualLayout>
          <c:layoutTarget val="inner"/>
          <c:xMode val="edge"/>
          <c:yMode val="edge"/>
          <c:x val="0.19459390492855055"/>
          <c:y val="0.25891812865497077"/>
          <c:w val="0.76903043369578805"/>
          <c:h val="0.6752923976608187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Estimado ($)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numFmt formatCode="\$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rgbClr val="555555"/>
                    </a:solidFill>
                    <a:latin typeface="Arial"/>
                    <a:ea typeface="+mn-ea"/>
                    <a:cs typeface="+mn-cs"/>
                  </a:defRPr>
                </a:pPr>
                <a:endParaRPr lang="es-CA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Surcharge</c:v>
                </c:pt>
                <c:pt idx="1">
                  <c:v>Land freight</c:v>
                </c:pt>
                <c:pt idx="2">
                  <c:v>Total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1800</c:v>
                </c:pt>
                <c:pt idx="1">
                  <c:v>1300</c:v>
                </c:pt>
                <c:pt idx="2">
                  <c:v>3100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FD8-8B48-AABD-50AD2DA3EF1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12700" cap="flat" cmpd="sng" algn="ctr">
            <a:solidFill>
              <a:srgbClr val="888888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555555"/>
                </a:solidFill>
                <a:latin typeface="+mn-lt"/>
                <a:ea typeface="+mn-ea"/>
                <a:cs typeface="+mn-cs"/>
              </a:defRPr>
            </a:pPr>
            <a:endParaRPr lang="es-CA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6350" cap="flat" cmpd="sng" algn="ctr">
              <a:solidFill>
                <a:srgbClr val="E3E7E3"/>
              </a:solidFill>
              <a:prstDash val="solid"/>
              <a:round/>
            </a:ln>
            <a:effectLst/>
          </c:spPr>
        </c:majorGridlines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 w="635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es-CA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rgbClr val="1F2A24"/>
                </a:solidFill>
                <a:latin typeface="+mn-lt"/>
                <a:ea typeface="+mn-ea"/>
                <a:cs typeface="+mn-cs"/>
              </a:defRPr>
            </a:pPr>
            <a:r>
              <a:rPr lang="es-MX" sz="1100" b="0" i="0" u="none" strike="noStrike">
                <a:solidFill>
                  <a:srgbClr val="1F2A24"/>
                </a:solidFill>
                <a:latin typeface="+mn-lt"/>
              </a:rPr>
              <a:t>Costo promedio por skid según puerto ($)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rgbClr val="1F2A24"/>
              </a:solidFill>
              <a:latin typeface="+mn-lt"/>
              <a:ea typeface="+mn-ea"/>
              <a:cs typeface="+mn-cs"/>
            </a:defRPr>
          </a:pPr>
          <a:endParaRPr lang="es-CA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Ocean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Toronto</c:v>
                </c:pt>
                <c:pt idx="1">
                  <c:v>Chicago</c:v>
                </c:pt>
                <c:pt idx="2">
                  <c:v>Savannah</c:v>
                </c:pt>
                <c:pt idx="3">
                  <c:v>Vancouver</c:v>
                </c:pt>
                <c:pt idx="4">
                  <c:v>Los Ángeles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260</c:v>
                </c:pt>
                <c:pt idx="1">
                  <c:v>300</c:v>
                </c:pt>
                <c:pt idx="2">
                  <c:v>240</c:v>
                </c:pt>
                <c:pt idx="3">
                  <c:v>220</c:v>
                </c:pt>
                <c:pt idx="4">
                  <c:v>210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923-4043-A1EA-892E85B768B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Land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Toronto</c:v>
                </c:pt>
                <c:pt idx="1">
                  <c:v>Chicago</c:v>
                </c:pt>
                <c:pt idx="2">
                  <c:v>Savannah</c:v>
                </c:pt>
                <c:pt idx="3">
                  <c:v>Vancouver</c:v>
                </c:pt>
                <c:pt idx="4">
                  <c:v>Los Ángeles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60</c:v>
                </c:pt>
                <c:pt idx="1">
                  <c:v>90</c:v>
                </c:pt>
                <c:pt idx="2">
                  <c:v>120</c:v>
                </c:pt>
                <c:pt idx="3">
                  <c:v>170</c:v>
                </c:pt>
                <c:pt idx="4">
                  <c:v>140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923-4043-A1EA-892E85B768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noFill/>
          <a:ln w="12700" cap="flat" cmpd="sng" algn="ctr">
            <a:solidFill>
              <a:srgbClr val="888888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555555"/>
                </a:solidFill>
                <a:latin typeface="+mn-lt"/>
                <a:ea typeface="+mn-ea"/>
                <a:cs typeface="+mn-cs"/>
              </a:defRPr>
            </a:pPr>
            <a:endParaRPr lang="es-CA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3E7E3"/>
              </a:solidFill>
              <a:prstDash val="solid"/>
              <a:round/>
            </a:ln>
            <a:effectLst/>
          </c:spPr>
        </c:majorGridlines>
        <c:numFmt formatCode="General" sourceLinked="0"/>
        <c:majorTickMark val="out"/>
        <c:minorTickMark val="none"/>
        <c:tickLblPos val="nextTo"/>
        <c:spPr>
          <a:noFill/>
          <a:ln w="12700" cap="flat" cmpd="sng" algn="ctr">
            <a:solidFill>
              <a:srgbClr val="888888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555555"/>
                </a:solidFill>
                <a:latin typeface="+mn-lt"/>
                <a:ea typeface="+mn-ea"/>
                <a:cs typeface="+mn-cs"/>
              </a:defRPr>
            </a:pPr>
            <a:endParaRPr lang="es-CA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lt"/>
            </a:defRPr>
          </a:pPr>
          <a:endParaRPr lang="es-CA"/>
        </a:p>
      </c:txPr>
    </c:legend>
    <c:plotVisOnly val="1"/>
    <c:dispBlanksAs val="span"/>
    <c:showDLblsOverMax val="1"/>
  </c:chart>
  <c:spPr>
    <a:noFill/>
    <a:ln w="635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es-CA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rgbClr val="1F2A24"/>
                </a:solidFill>
                <a:latin typeface="+mn-lt"/>
                <a:ea typeface="+mn-ea"/>
                <a:cs typeface="+mn-cs"/>
              </a:defRPr>
            </a:pPr>
            <a:r>
              <a:rPr lang="es-MX" sz="1100" b="0" i="0" u="none" strike="noStrike">
                <a:solidFill>
                  <a:srgbClr val="1F2A24"/>
                </a:solidFill>
                <a:latin typeface="+mn-lt"/>
              </a:rPr>
              <a:t>Costo por skid según mes ($)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rgbClr val="1F2A24"/>
              </a:solidFill>
              <a:latin typeface="+mn-lt"/>
              <a:ea typeface="+mn-ea"/>
              <a:cs typeface="+mn-cs"/>
            </a:defRPr>
          </a:pPr>
          <a:endParaRPr lang="es-CA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Costo total por skid</c:v>
                </c:pt>
              </c:strCache>
            </c:strRef>
          </c:tx>
          <c:spPr>
            <a:ln w="19050" cap="rnd" cmpd="sng" algn="ctr">
              <a:solidFill>
                <a:schemeClr val="accent1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6350" cap="flat" cmpd="sng" algn="ctr">
                <a:solidFill>
                  <a:schemeClr val="accent1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E</c:v>
                </c:pt>
                <c:pt idx="1">
                  <c:v>F</c:v>
                </c:pt>
                <c:pt idx="2">
                  <c:v>M</c:v>
                </c:pt>
                <c:pt idx="3">
                  <c:v>A</c:v>
                </c:pt>
                <c:pt idx="4">
                  <c:v>M</c:v>
                </c:pt>
                <c:pt idx="5">
                  <c:v>J</c:v>
                </c:pt>
                <c:pt idx="6">
                  <c:v>J</c:v>
                </c:pt>
                <c:pt idx="7">
                  <c:v>A</c:v>
                </c:pt>
                <c:pt idx="8">
                  <c:v>S</c:v>
                </c:pt>
                <c:pt idx="9">
                  <c:v>O</c:v>
                </c:pt>
                <c:pt idx="10">
                  <c:v>N</c:v>
                </c:pt>
                <c:pt idx="11">
                  <c:v>D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340</c:v>
                </c:pt>
                <c:pt idx="1">
                  <c:v>360</c:v>
                </c:pt>
                <c:pt idx="2">
                  <c:v>330</c:v>
                </c:pt>
                <c:pt idx="3">
                  <c:v>300</c:v>
                </c:pt>
                <c:pt idx="4">
                  <c:v>290</c:v>
                </c:pt>
                <c:pt idx="5">
                  <c:v>280</c:v>
                </c:pt>
                <c:pt idx="6">
                  <c:v>310</c:v>
                </c:pt>
                <c:pt idx="7">
                  <c:v>330</c:v>
                </c:pt>
                <c:pt idx="8">
                  <c:v>350</c:v>
                </c:pt>
                <c:pt idx="9">
                  <c:v>380</c:v>
                </c:pt>
                <c:pt idx="10">
                  <c:v>390</c:v>
                </c:pt>
                <c:pt idx="11">
                  <c:v>370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84A-194D-85F3-3D2B489081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noFill/>
          <a:ln w="12700" cap="flat" cmpd="sng" algn="ctr">
            <a:solidFill>
              <a:srgbClr val="888888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555555"/>
                </a:solidFill>
                <a:latin typeface="+mn-lt"/>
                <a:ea typeface="+mn-ea"/>
                <a:cs typeface="+mn-cs"/>
              </a:defRPr>
            </a:pPr>
            <a:endParaRPr lang="es-CA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3E7E3"/>
              </a:solidFill>
              <a:prstDash val="solid"/>
              <a:round/>
            </a:ln>
            <a:effectLst/>
          </c:spPr>
        </c:majorGridlines>
        <c:numFmt formatCode="General" sourceLinked="0"/>
        <c:majorTickMark val="out"/>
        <c:minorTickMark val="none"/>
        <c:tickLblPos val="nextTo"/>
        <c:spPr>
          <a:noFill/>
          <a:ln w="12700" cap="flat" cmpd="sng" algn="ctr">
            <a:solidFill>
              <a:srgbClr val="888888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555555"/>
                </a:solidFill>
                <a:latin typeface="+mn-lt"/>
                <a:ea typeface="+mn-ea"/>
                <a:cs typeface="+mn-cs"/>
              </a:defRPr>
            </a:pPr>
            <a:endParaRPr lang="es-CA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 w="635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es-CA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rgbClr val="1F2A24"/>
                </a:solidFill>
                <a:latin typeface="+mn-lt"/>
                <a:ea typeface="+mn-ea"/>
                <a:cs typeface="+mn-cs"/>
              </a:defRPr>
            </a:pPr>
            <a:r>
              <a:rPr lang="es-MX" sz="1100" b="0" i="0" u="none" strike="noStrike">
                <a:solidFill>
                  <a:srgbClr val="1F2A24"/>
                </a:solidFill>
                <a:latin typeface="+mn-lt"/>
              </a:rPr>
              <a:t>Surcharge sobre el base rate por ruta (%)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rgbClr val="1F2A24"/>
              </a:solidFill>
              <a:latin typeface="+mn-lt"/>
              <a:ea typeface="+mn-ea"/>
              <a:cs typeface="+mn-cs"/>
            </a:defRPr>
          </a:pPr>
          <a:endParaRPr lang="es-CA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Surcharge / base rate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rgbClr val="555555"/>
                    </a:solidFill>
                    <a:latin typeface="Arial"/>
                    <a:ea typeface="+mn-ea"/>
                    <a:cs typeface="+mn-cs"/>
                  </a:defRPr>
                </a:pPr>
                <a:endParaRPr lang="es-CA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Shanghai → Toronto</c:v>
                </c:pt>
                <c:pt idx="1">
                  <c:v>Nanjing → Chicago</c:v>
                </c:pt>
                <c:pt idx="2">
                  <c:v>Shanghai → Savannah</c:v>
                </c:pt>
                <c:pt idx="3">
                  <c:v>Nanjing → Vancouver</c:v>
                </c:pt>
                <c:pt idx="4">
                  <c:v>Shanghai → Los Ángeles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0.12</c:v>
                </c:pt>
                <c:pt idx="1">
                  <c:v>0.25</c:v>
                </c:pt>
                <c:pt idx="2">
                  <c:v>0.03</c:v>
                </c:pt>
                <c:pt idx="3">
                  <c:v>0.31</c:v>
                </c:pt>
                <c:pt idx="4">
                  <c:v>0.08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B9F-634E-9F2B-63521EB8719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12700" cap="flat" cmpd="sng" algn="ctr">
            <a:solidFill>
              <a:srgbClr val="888888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555555"/>
                </a:solidFill>
                <a:latin typeface="+mn-lt"/>
                <a:ea typeface="+mn-ea"/>
                <a:cs typeface="+mn-cs"/>
              </a:defRPr>
            </a:pPr>
            <a:endParaRPr lang="es-CA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3E7E3"/>
              </a:solidFill>
              <a:prstDash val="solid"/>
              <a:round/>
            </a:ln>
            <a:effectLst/>
          </c:spPr>
        </c:majorGridlines>
        <c:numFmt formatCode="0%" sourceLinked="0"/>
        <c:majorTickMark val="out"/>
        <c:minorTickMark val="none"/>
        <c:tickLblPos val="low"/>
        <c:spPr>
          <a:noFill/>
          <a:ln w="12700" cap="flat" cmpd="sng" algn="ctr">
            <a:solidFill>
              <a:srgbClr val="888888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555555"/>
                </a:solidFill>
                <a:latin typeface="+mn-lt"/>
                <a:ea typeface="+mn-ea"/>
                <a:cs typeface="+mn-cs"/>
              </a:defRPr>
            </a:pPr>
            <a:endParaRPr lang="es-CA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 w="635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es-CA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rgbClr val="1F2A24"/>
                </a:solidFill>
                <a:latin typeface="+mn-lt"/>
                <a:ea typeface="+mn-ea"/>
                <a:cs typeface="+mn-cs"/>
              </a:defRPr>
            </a:pPr>
            <a:r>
              <a:rPr lang="es-MX" sz="1100" b="0" i="0" u="none" strike="noStrike">
                <a:solidFill>
                  <a:srgbClr val="1F2A24"/>
                </a:solidFill>
                <a:latin typeface="+mn-lt"/>
              </a:rPr>
              <a:t>Causas de los cut offs (%)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rgbClr val="1F2A24"/>
              </a:solidFill>
              <a:latin typeface="+mn-lt"/>
              <a:ea typeface="+mn-ea"/>
              <a:cs typeface="+mn-cs"/>
            </a:defRPr>
          </a:pPr>
          <a:endParaRPr lang="es-CA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Cut offs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rgbClr val="555555"/>
                    </a:solidFill>
                    <a:latin typeface="Arial"/>
                    <a:ea typeface="+mn-ea"/>
                    <a:cs typeface="+mn-cs"/>
                  </a:defRPr>
                </a:pPr>
                <a:endParaRPr lang="es-CA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Retraso de producción</c:v>
                </c:pt>
                <c:pt idx="1">
                  <c:v>Contenedor varado</c:v>
                </c:pt>
                <c:pt idx="2">
                  <c:v>Pedido tardío</c:v>
                </c:pt>
                <c:pt idx="3">
                  <c:v>Capacidad del barco</c:v>
                </c:pt>
                <c:pt idx="4">
                  <c:v>Otro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</c:v>
                </c:pt>
                <c:pt idx="1">
                  <c:v>20</c:v>
                </c:pt>
                <c:pt idx="2">
                  <c:v>18</c:v>
                </c:pt>
                <c:pt idx="3">
                  <c:v>10</c:v>
                </c:pt>
                <c:pt idx="4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4A9-0E43-9D84-BFF1CACC879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12700" cap="flat" cmpd="sng" algn="ctr">
            <a:solidFill>
              <a:srgbClr val="888888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555555"/>
                </a:solidFill>
                <a:latin typeface="+mn-lt"/>
                <a:ea typeface="+mn-ea"/>
                <a:cs typeface="+mn-cs"/>
              </a:defRPr>
            </a:pPr>
            <a:endParaRPr lang="es-CA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6350" cap="flat" cmpd="sng" algn="ctr">
              <a:solidFill>
                <a:srgbClr val="E3E7E3"/>
              </a:solidFill>
              <a:prstDash val="solid"/>
              <a:round/>
            </a:ln>
            <a:effectLst/>
          </c:spPr>
        </c:majorGridlines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 w="635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es-CA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2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style1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3C47E9-D1E4-0B03-7A9A-6D375BD81F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A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611F0E2-443F-8CA1-C07B-DC1DD57CEC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CA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78764CB-1A2B-D25D-0918-B32D7FBC6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D0BCF-7E68-C640-B7F9-07C2452DD733}" type="datetimeFigureOut">
              <a:rPr lang="es-CA" smtClean="0"/>
              <a:t>23/10/26</a:t>
            </a:fld>
            <a:endParaRPr lang="es-CA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3185BC5-6FA5-B488-84E8-898B5F134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A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20F04C4-702D-8A5C-53C7-1C3EAB377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A531F-55A0-5942-80FA-5ACF48346750}" type="slidenum">
              <a:rPr lang="es-CA" smtClean="0"/>
              <a:t>‹Nº›</a:t>
            </a:fld>
            <a:endParaRPr lang="es-CA"/>
          </a:p>
        </p:txBody>
      </p:sp>
    </p:spTree>
    <p:extLst>
      <p:ext uri="{BB962C8B-B14F-4D97-AF65-F5344CB8AC3E}">
        <p14:creationId xmlns:p14="http://schemas.microsoft.com/office/powerpoint/2010/main" val="3977016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72638B-91A3-3163-F732-A7FDECEF7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A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EC6C4A8-C6FD-47A4-1F44-A38CD1BE89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A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F0A60B9-8FBF-18FC-B23D-480E0633F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D0BCF-7E68-C640-B7F9-07C2452DD733}" type="datetimeFigureOut">
              <a:rPr lang="es-CA" smtClean="0"/>
              <a:t>23/10/26</a:t>
            </a:fld>
            <a:endParaRPr lang="es-CA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88CDBFB-4B3A-28ED-DCFE-C6C4FD25D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A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C530CDB-77D7-FD35-DEE6-5E5F2A393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A531F-55A0-5942-80FA-5ACF48346750}" type="slidenum">
              <a:rPr lang="es-CA" smtClean="0"/>
              <a:t>‹Nº›</a:t>
            </a:fld>
            <a:endParaRPr lang="es-CA"/>
          </a:p>
        </p:txBody>
      </p:sp>
    </p:spTree>
    <p:extLst>
      <p:ext uri="{BB962C8B-B14F-4D97-AF65-F5344CB8AC3E}">
        <p14:creationId xmlns:p14="http://schemas.microsoft.com/office/powerpoint/2010/main" val="1977768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465F2B-40FC-8344-D3FF-6086C5643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A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5C725DE-E0D7-5EB8-2097-54B6C07ED3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50370FD-3612-5DE5-72B1-F94B5A7A4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D0BCF-7E68-C640-B7F9-07C2452DD733}" type="datetimeFigureOut">
              <a:rPr lang="es-CA" smtClean="0"/>
              <a:t>23/10/26</a:t>
            </a:fld>
            <a:endParaRPr lang="es-CA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7CB4CEB-997E-3B56-AA4D-2FF86E94E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A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C091647-02AD-0CA9-710D-B3EAD9257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A531F-55A0-5942-80FA-5ACF48346750}" type="slidenum">
              <a:rPr lang="es-CA" smtClean="0"/>
              <a:t>‹Nº›</a:t>
            </a:fld>
            <a:endParaRPr lang="es-CA"/>
          </a:p>
        </p:txBody>
      </p:sp>
    </p:spTree>
    <p:extLst>
      <p:ext uri="{BB962C8B-B14F-4D97-AF65-F5344CB8AC3E}">
        <p14:creationId xmlns:p14="http://schemas.microsoft.com/office/powerpoint/2010/main" val="125119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10DA25-7B30-B7BC-1615-3F4F40078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A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B92657D-5AF0-E8B7-363F-EA03689047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A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1BD1FF0-5E7C-4371-F21E-6387F8BD43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A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FCCB2CF-73B3-C095-3B0F-B4A4B37EF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D0BCF-7E68-C640-B7F9-07C2452DD733}" type="datetimeFigureOut">
              <a:rPr lang="es-CA" smtClean="0"/>
              <a:t>23/10/26</a:t>
            </a:fld>
            <a:endParaRPr lang="es-CA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6B4A6E0-CD7A-2A15-C555-FBC9EC0C8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A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571737C-ACA1-E79E-FDD1-F83F78548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A531F-55A0-5942-80FA-5ACF48346750}" type="slidenum">
              <a:rPr lang="es-CA" smtClean="0"/>
              <a:t>‹Nº›</a:t>
            </a:fld>
            <a:endParaRPr lang="es-CA"/>
          </a:p>
        </p:txBody>
      </p:sp>
    </p:spTree>
    <p:extLst>
      <p:ext uri="{BB962C8B-B14F-4D97-AF65-F5344CB8AC3E}">
        <p14:creationId xmlns:p14="http://schemas.microsoft.com/office/powerpoint/2010/main" val="1066591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68A13C-D852-A66D-7E37-3EC6BCD13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CA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5BE4B28-3927-265E-72DD-CE876E1267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A999453-858F-B178-B046-C711CB38AF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A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A8B78D1-71C7-A9F4-ABF0-4A2D18D1C2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BD3539B-F8CB-4808-80C1-7ABBFC7667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A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2F14D56-F37C-8AB9-D481-9511993CE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D0BCF-7E68-C640-B7F9-07C2452DD733}" type="datetimeFigureOut">
              <a:rPr lang="es-CA" smtClean="0"/>
              <a:t>23/10/26</a:t>
            </a:fld>
            <a:endParaRPr lang="es-CA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43B4C92-A9B8-1607-0971-B1B3356FD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A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69A9E98-D5B2-377E-0373-D8419AC88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A531F-55A0-5942-80FA-5ACF48346750}" type="slidenum">
              <a:rPr lang="es-CA" smtClean="0"/>
              <a:t>‹Nº›</a:t>
            </a:fld>
            <a:endParaRPr lang="es-CA"/>
          </a:p>
        </p:txBody>
      </p:sp>
    </p:spTree>
    <p:extLst>
      <p:ext uri="{BB962C8B-B14F-4D97-AF65-F5344CB8AC3E}">
        <p14:creationId xmlns:p14="http://schemas.microsoft.com/office/powerpoint/2010/main" val="42350393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35236E-9AD8-480C-B3D4-E9FF9B14B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A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8148920-15CB-8E68-6CF0-F287CC309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D0BCF-7E68-C640-B7F9-07C2452DD733}" type="datetimeFigureOut">
              <a:rPr lang="es-CA" smtClean="0"/>
              <a:t>23/10/26</a:t>
            </a:fld>
            <a:endParaRPr lang="es-CA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AB2B80C-FEA6-A59B-BFBA-7BF0FE461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A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EA34C1F-AECC-1447-0EAF-0645C0A98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A531F-55A0-5942-80FA-5ACF48346750}" type="slidenum">
              <a:rPr lang="es-CA" smtClean="0"/>
              <a:t>‹Nº›</a:t>
            </a:fld>
            <a:endParaRPr lang="es-CA"/>
          </a:p>
        </p:txBody>
      </p:sp>
    </p:spTree>
    <p:extLst>
      <p:ext uri="{BB962C8B-B14F-4D97-AF65-F5344CB8AC3E}">
        <p14:creationId xmlns:p14="http://schemas.microsoft.com/office/powerpoint/2010/main" val="50268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5FBDB77-4F65-0F4E-7EFF-0E8160DA4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D0BCF-7E68-C640-B7F9-07C2452DD733}" type="datetimeFigureOut">
              <a:rPr lang="es-CA" smtClean="0"/>
              <a:t>23/10/26</a:t>
            </a:fld>
            <a:endParaRPr lang="es-CA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09B24C5-B147-094C-0AF6-B268A32FE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A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61FCC2C-78B4-129E-E013-52112AD9E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A531F-55A0-5942-80FA-5ACF48346750}" type="slidenum">
              <a:rPr lang="es-CA" smtClean="0"/>
              <a:t>‹Nº›</a:t>
            </a:fld>
            <a:endParaRPr lang="es-CA"/>
          </a:p>
        </p:txBody>
      </p:sp>
    </p:spTree>
    <p:extLst>
      <p:ext uri="{BB962C8B-B14F-4D97-AF65-F5344CB8AC3E}">
        <p14:creationId xmlns:p14="http://schemas.microsoft.com/office/powerpoint/2010/main" val="2357477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A8E855-C439-94AC-D9CE-3AAEC35CC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A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0E17C04-4192-B52E-40BB-645F60B785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A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261379A-49FB-1785-D334-6A984D790B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8386F22-268D-AAD9-511D-FC41C4D7F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D0BCF-7E68-C640-B7F9-07C2452DD733}" type="datetimeFigureOut">
              <a:rPr lang="es-CA" smtClean="0"/>
              <a:t>23/10/26</a:t>
            </a:fld>
            <a:endParaRPr lang="es-CA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508AD62-1A5B-4B93-0B01-2935697C4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A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0E1329E-8EFB-81D4-3D0E-A868528E4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A531F-55A0-5942-80FA-5ACF48346750}" type="slidenum">
              <a:rPr lang="es-CA" smtClean="0"/>
              <a:t>‹Nº›</a:t>
            </a:fld>
            <a:endParaRPr lang="es-CA"/>
          </a:p>
        </p:txBody>
      </p:sp>
    </p:spTree>
    <p:extLst>
      <p:ext uri="{BB962C8B-B14F-4D97-AF65-F5344CB8AC3E}">
        <p14:creationId xmlns:p14="http://schemas.microsoft.com/office/powerpoint/2010/main" val="3227782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1CF9BE-266C-97A8-E837-8B575192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A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3E3B938-8830-685E-EE37-6CE6E19568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A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527C7C0-67CA-592D-3967-B3811B5012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0CDF14B-48DB-0C03-29D2-D9BA32EA9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D0BCF-7E68-C640-B7F9-07C2452DD733}" type="datetimeFigureOut">
              <a:rPr lang="es-CA" smtClean="0"/>
              <a:t>23/10/26</a:t>
            </a:fld>
            <a:endParaRPr lang="es-CA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2ADCEEA-DF76-1CAD-9F2C-EFFD93735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A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25D141C-80AE-42CE-022D-59D2717E8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A531F-55A0-5942-80FA-5ACF48346750}" type="slidenum">
              <a:rPr lang="es-CA" smtClean="0"/>
              <a:t>‹Nº›</a:t>
            </a:fld>
            <a:endParaRPr lang="es-CA"/>
          </a:p>
        </p:txBody>
      </p:sp>
    </p:spTree>
    <p:extLst>
      <p:ext uri="{BB962C8B-B14F-4D97-AF65-F5344CB8AC3E}">
        <p14:creationId xmlns:p14="http://schemas.microsoft.com/office/powerpoint/2010/main" val="18617194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A45841-1A66-451C-7932-CD8418336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A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96F9238-C9A6-35AD-CA7D-FE0D9707CA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A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1353015-4A40-86F7-BBB7-362C37DA2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D0BCF-7E68-C640-B7F9-07C2452DD733}" type="datetimeFigureOut">
              <a:rPr lang="es-CA" smtClean="0"/>
              <a:t>23/10/26</a:t>
            </a:fld>
            <a:endParaRPr lang="es-CA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19D2959-D07E-67F4-B4AD-7728C9C30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A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90BF56D-AA89-2A71-4833-D9D0AF3B5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A531F-55A0-5942-80FA-5ACF48346750}" type="slidenum">
              <a:rPr lang="es-CA" smtClean="0"/>
              <a:t>‹Nº›</a:t>
            </a:fld>
            <a:endParaRPr lang="es-CA"/>
          </a:p>
        </p:txBody>
      </p:sp>
    </p:spTree>
    <p:extLst>
      <p:ext uri="{BB962C8B-B14F-4D97-AF65-F5344CB8AC3E}">
        <p14:creationId xmlns:p14="http://schemas.microsoft.com/office/powerpoint/2010/main" val="3108250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C2960EB-9D5B-11F8-7358-B1EC7D33C6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CA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6CC8FD8-1A52-5A34-593D-F81EE7928F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A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CC6C2CB-17E9-8E11-B877-2AB8B8690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D0BCF-7E68-C640-B7F9-07C2452DD733}" type="datetimeFigureOut">
              <a:rPr lang="es-CA" smtClean="0"/>
              <a:t>23/10/26</a:t>
            </a:fld>
            <a:endParaRPr lang="es-CA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8A69264-7EB9-7898-6C14-F4B4A29F4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A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38F578-C402-1046-66A5-6186DDCDB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A531F-55A0-5942-80FA-5ACF48346750}" type="slidenum">
              <a:rPr lang="es-CA" smtClean="0"/>
              <a:t>‹Nº›</a:t>
            </a:fld>
            <a:endParaRPr lang="es-CA"/>
          </a:p>
        </p:txBody>
      </p:sp>
    </p:spTree>
    <p:extLst>
      <p:ext uri="{BB962C8B-B14F-4D97-AF65-F5344CB8AC3E}">
        <p14:creationId xmlns:p14="http://schemas.microsoft.com/office/powerpoint/2010/main" val="1984265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4F0C9BC-E0DB-D1E5-C6EE-97E012EDE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CA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7A9B8A3-6F31-5FCF-398C-72F165FE62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A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2F70710-D058-FBB7-DE32-C47C9FA7BE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D0BCF-7E68-C640-B7F9-07C2452DD733}" type="datetimeFigureOut">
              <a:rPr lang="es-CA" smtClean="0"/>
              <a:t>23/10/26</a:t>
            </a:fld>
            <a:endParaRPr lang="es-CA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DFD5BDE-6618-0497-8AF5-44E6A1D4F2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A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494EEA3-3177-D282-79F3-D149ADE330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AA531F-55A0-5942-80FA-5ACF48346750}" type="slidenum">
              <a:rPr lang="es-CA" smtClean="0"/>
              <a:t>‹Nº›</a:t>
            </a:fld>
            <a:endParaRPr lang="es-CA"/>
          </a:p>
        </p:txBody>
      </p:sp>
    </p:spTree>
    <p:extLst>
      <p:ext uri="{BB962C8B-B14F-4D97-AF65-F5344CB8AC3E}">
        <p14:creationId xmlns:p14="http://schemas.microsoft.com/office/powerpoint/2010/main" val="978898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DFCD2BBC-7560-FBD4-DE90-5E6F53E35FC0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72859" y="298053"/>
            <a:ext cx="1672716" cy="814055"/>
          </a:xfrm>
          <a:prstGeom prst="rect">
            <a:avLst/>
          </a:prstGeom>
        </p:spPr>
      </p:pic>
      <p:sp>
        <p:nvSpPr>
          <p:cNvPr id="12" name="Título">
            <a:extLst>
              <a:ext uri="{FF2B5EF4-FFF2-40B4-BE49-F238E27FC236}">
                <a16:creationId xmlns:a16="http://schemas.microsoft.com/office/drawing/2014/main" id="{990D9C9B-FBB0-FFD0-116D-D79EE61EE9C8}"/>
              </a:ext>
            </a:extLst>
          </p:cNvPr>
          <p:cNvSpPr txBox="1"/>
          <p:nvPr/>
        </p:nvSpPr>
        <p:spPr>
          <a:xfrm>
            <a:off x="1849890" y="1694013"/>
            <a:ext cx="848432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tx2"/>
                </a:solidFill>
              </a:rPr>
              <a:t>COTIZADOR DE COSTOS LOGÍSTICOS</a:t>
            </a:r>
            <a:endParaRPr lang="en-US" sz="6000" dirty="0"/>
          </a:p>
        </p:txBody>
      </p:sp>
      <p:sp>
        <p:nvSpPr>
          <p:cNvPr id="13" name="Título">
            <a:extLst>
              <a:ext uri="{FF2B5EF4-FFF2-40B4-BE49-F238E27FC236}">
                <a16:creationId xmlns:a16="http://schemas.microsoft.com/office/drawing/2014/main" id="{787A3265-5659-B77A-41CB-7B4461764317}"/>
              </a:ext>
            </a:extLst>
          </p:cNvPr>
          <p:cNvSpPr txBox="1"/>
          <p:nvPr/>
        </p:nvSpPr>
        <p:spPr>
          <a:xfrm>
            <a:off x="1849890" y="3159132"/>
            <a:ext cx="8484326" cy="170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chemeClr val="tx2"/>
                </a:solidFill>
              </a:rPr>
              <a:t>ISABELLA NAVARRO</a:t>
            </a:r>
          </a:p>
          <a:p>
            <a:pPr marL="0" indent="0" algn="ctr">
              <a:buNone/>
            </a:pPr>
            <a:r>
              <a:rPr lang="en-US" sz="3600" dirty="0">
                <a:solidFill>
                  <a:schemeClr val="tx2"/>
                </a:solidFill>
              </a:rPr>
              <a:t>DIEGO TRIANA</a:t>
            </a:r>
          </a:p>
          <a:p>
            <a:pPr marL="0" indent="0" algn="ctr">
              <a:buNone/>
            </a:pPr>
            <a:r>
              <a:rPr lang="en-US" sz="3600" dirty="0">
                <a:solidFill>
                  <a:schemeClr val="tx2"/>
                </a:solidFill>
              </a:rPr>
              <a:t>LAURA TACHA C.</a:t>
            </a:r>
            <a:endParaRPr lang="en-US" sz="4800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88087FC-5D3A-34C1-282D-7C0CEBDDDF94}"/>
              </a:ext>
            </a:extLst>
          </p:cNvPr>
          <p:cNvSpPr txBox="1"/>
          <p:nvPr/>
        </p:nvSpPr>
        <p:spPr>
          <a:xfrm>
            <a:off x="6226905" y="6032731"/>
            <a:ext cx="596509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CA" dirty="0">
                <a:effectLst/>
              </a:rPr>
              <a:t>Despliegue de Soluciones Analíticas</a:t>
            </a:r>
          </a:p>
          <a:p>
            <a:pPr algn="r"/>
            <a:r>
              <a:rPr lang="es-CA" sz="1200" dirty="0">
                <a:effectLst/>
              </a:rPr>
              <a:t>Maestría en Inteligencia Analítica de Datos</a:t>
            </a:r>
            <a:endParaRPr lang="es-CA" dirty="0">
              <a:effectLst/>
            </a:endParaRPr>
          </a:p>
          <a:p>
            <a:pPr algn="r"/>
            <a:r>
              <a:rPr lang="es-CA" sz="1200" dirty="0">
                <a:effectLst/>
              </a:rPr>
              <a:t>Universidad de los Andes </a:t>
            </a:r>
            <a:endParaRPr lang="es-CA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es-CA" sz="1200" dirty="0"/>
          </a:p>
        </p:txBody>
      </p:sp>
    </p:spTree>
    <p:extLst>
      <p:ext uri="{BB962C8B-B14F-4D97-AF65-F5344CB8AC3E}">
        <p14:creationId xmlns:p14="http://schemas.microsoft.com/office/powerpoint/2010/main" val="3718139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>
            <a:extLst>
              <a:ext uri="{FF2B5EF4-FFF2-40B4-BE49-F238E27FC236}">
                <a16:creationId xmlns:a16="http://schemas.microsoft.com/office/drawing/2014/main" id="{4CFAA32A-FDB3-486F-D9C2-2188E0635169}"/>
              </a:ext>
            </a:extLst>
          </p:cNvPr>
          <p:cNvSpPr txBox="1"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chemeClr val="tx2"/>
                </a:solidFill>
              </a:rPr>
              <a:t>Cotizar</a:t>
            </a:r>
            <a:r>
              <a:rPr lang="en-US" sz="2600" b="1" dirty="0">
                <a:solidFill>
                  <a:schemeClr val="tx2"/>
                </a:solidFill>
              </a:rPr>
              <a:t> </a:t>
            </a:r>
            <a:r>
              <a:rPr lang="en-US" sz="2600" b="1" dirty="0" err="1">
                <a:solidFill>
                  <a:schemeClr val="tx2"/>
                </a:solidFill>
              </a:rPr>
              <a:t>orden</a:t>
            </a:r>
            <a:r>
              <a:rPr lang="en-US" sz="2600" b="1" dirty="0">
                <a:solidFill>
                  <a:schemeClr val="tx2"/>
                </a:solidFill>
              </a:rPr>
              <a:t> </a:t>
            </a:r>
            <a:r>
              <a:rPr lang="en-US" sz="1600" b="1" dirty="0">
                <a:solidFill>
                  <a:schemeClr val="tx2"/>
                </a:solidFill>
              </a:rPr>
              <a:t>(</a:t>
            </a:r>
            <a:r>
              <a:rPr lang="en-US" sz="1600" b="1" dirty="0" err="1">
                <a:solidFill>
                  <a:schemeClr val="tx2"/>
                </a:solidFill>
              </a:rPr>
              <a:t>Pestaña</a:t>
            </a:r>
            <a:r>
              <a:rPr lang="en-US" sz="1600" b="1" dirty="0">
                <a:solidFill>
                  <a:schemeClr val="tx2"/>
                </a:solidFill>
              </a:rPr>
              <a:t> 1)</a:t>
            </a:r>
            <a:endParaRPr lang="en-US" sz="2600" dirty="0"/>
          </a:p>
        </p:txBody>
      </p:sp>
      <p:sp>
        <p:nvSpPr>
          <p:cNvPr id="3" name="Barra de pestañas">
            <a:extLst>
              <a:ext uri="{FF2B5EF4-FFF2-40B4-BE49-F238E27FC236}">
                <a16:creationId xmlns:a16="http://schemas.microsoft.com/office/drawing/2014/main" id="{D55ABA66-F74A-744D-26F6-21A84CCB48B1}"/>
              </a:ext>
            </a:extLst>
          </p:cNvPr>
          <p:cNvSpPr/>
          <p:nvPr/>
        </p:nvSpPr>
        <p:spPr>
          <a:xfrm>
            <a:off x="365760" y="868680"/>
            <a:ext cx="8412480" cy="4114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Pestaña 1">
            <a:extLst>
              <a:ext uri="{FF2B5EF4-FFF2-40B4-BE49-F238E27FC236}">
                <a16:creationId xmlns:a16="http://schemas.microsoft.com/office/drawing/2014/main" id="{B27EDC7F-491C-6DAF-E373-9FB4E6000DFA}"/>
              </a:ext>
            </a:extLst>
          </p:cNvPr>
          <p:cNvSpPr txBox="1"/>
          <p:nvPr/>
        </p:nvSpPr>
        <p:spPr>
          <a:xfrm>
            <a:off x="411480" y="905256"/>
            <a:ext cx="2286000" cy="338328"/>
          </a:xfrm>
          <a:prstGeom prst="roundRect">
            <a:avLst>
              <a:gd name="adj" fmla="val 21622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 Cotizar orden</a:t>
            </a:r>
            <a:endParaRPr lang="en-US" sz="1300" dirty="0"/>
          </a:p>
        </p:txBody>
      </p:sp>
      <p:sp>
        <p:nvSpPr>
          <p:cNvPr id="5" name="Pestaña 2">
            <a:extLst>
              <a:ext uri="{FF2B5EF4-FFF2-40B4-BE49-F238E27FC236}">
                <a16:creationId xmlns:a16="http://schemas.microsoft.com/office/drawing/2014/main" id="{7C990F57-D4A7-B924-1A71-65B0054FBE9C}"/>
              </a:ext>
            </a:extLst>
          </p:cNvPr>
          <p:cNvSpPr txBox="1"/>
          <p:nvPr/>
        </p:nvSpPr>
        <p:spPr>
          <a:xfrm>
            <a:off x="3200400" y="906780"/>
            <a:ext cx="2286000" cy="338328"/>
          </a:xfrm>
          <a:prstGeom prst="roundRect">
            <a:avLst>
              <a:gd name="adj" fmla="val 21622"/>
            </a:avLst>
          </a:prstGeom>
          <a:solidFill>
            <a:schemeClr val="bg2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 err="1">
                <a:solidFill>
                  <a:schemeClr val="tx1"/>
                </a:solidFill>
              </a:rPr>
              <a:t>Histórico</a:t>
            </a:r>
            <a:endParaRPr lang="en-US" sz="1300" dirty="0"/>
          </a:p>
        </p:txBody>
      </p:sp>
      <p:sp>
        <p:nvSpPr>
          <p:cNvPr id="6" name="Pestaña 3">
            <a:extLst>
              <a:ext uri="{FF2B5EF4-FFF2-40B4-BE49-F238E27FC236}">
                <a16:creationId xmlns:a16="http://schemas.microsoft.com/office/drawing/2014/main" id="{467F30FC-38DD-A9D7-1ECC-004D0780BF4D}"/>
              </a:ext>
            </a:extLst>
          </p:cNvPr>
          <p:cNvSpPr txBox="1"/>
          <p:nvPr/>
        </p:nvSpPr>
        <p:spPr>
          <a:xfrm>
            <a:off x="5989320" y="905256"/>
            <a:ext cx="2286000" cy="338328"/>
          </a:xfrm>
          <a:prstGeom prst="roundRect">
            <a:avLst>
              <a:gd name="adj" fmla="val 21622"/>
            </a:avLst>
          </a:prstGeom>
          <a:solidFill>
            <a:schemeClr val="bg2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 rtlCol="0" anchor="ctr"/>
          <a:lstStyle>
            <a:defPPr>
              <a:defRPr lang="es-CA"/>
            </a:defPPr>
            <a:lvl1pPr indent="0" algn="ctr">
              <a:buNone/>
              <a:defRPr sz="1300"/>
            </a:lvl1pPr>
          </a:lstStyle>
          <a:p>
            <a:r>
              <a:rPr lang="en-US"/>
              <a:t>Cambios logísticos</a:t>
            </a:r>
            <a:endParaRPr lang="en-US" dirty="0"/>
          </a:p>
        </p:txBody>
      </p:sp>
      <p:sp>
        <p:nvSpPr>
          <p:cNvPr id="7" name="Panel Datos de la orden">
            <a:extLst>
              <a:ext uri="{FF2B5EF4-FFF2-40B4-BE49-F238E27FC236}">
                <a16:creationId xmlns:a16="http://schemas.microsoft.com/office/drawing/2014/main" id="{B0D7C4EE-278E-1567-4510-9390B9F8F790}"/>
              </a:ext>
            </a:extLst>
          </p:cNvPr>
          <p:cNvSpPr/>
          <p:nvPr/>
        </p:nvSpPr>
        <p:spPr>
          <a:xfrm>
            <a:off x="365760" y="1463040"/>
            <a:ext cx="4160520" cy="4846320"/>
          </a:xfrm>
          <a:prstGeom prst="roundRect">
            <a:avLst>
              <a:gd name="adj" fmla="val 1758"/>
            </a:avLst>
          </a:prstGeom>
          <a:solidFill>
            <a:schemeClr val="bg1"/>
          </a:solidFill>
          <a:ln w="12700">
            <a:solidFill>
              <a:srgbClr val="C9D1CA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5AA585C-7AD2-60C6-DD2D-25B995AFA137}"/>
              </a:ext>
            </a:extLst>
          </p:cNvPr>
          <p:cNvSpPr txBox="1"/>
          <p:nvPr/>
        </p:nvSpPr>
        <p:spPr>
          <a:xfrm>
            <a:off x="502920" y="153619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Datos de la orden</a:t>
            </a:r>
            <a:endParaRPr lang="en-US" sz="1300" dirty="0"/>
          </a:p>
        </p:txBody>
      </p:sp>
      <p:sp>
        <p:nvSpPr>
          <p:cNvPr id="9" name="Marcador 1">
            <a:extLst>
              <a:ext uri="{FF2B5EF4-FFF2-40B4-BE49-F238E27FC236}">
                <a16:creationId xmlns:a16="http://schemas.microsoft.com/office/drawing/2014/main" id="{6C42A033-C6DF-D21D-8942-C452E3D17358}"/>
              </a:ext>
            </a:extLst>
          </p:cNvPr>
          <p:cNvSpPr txBox="1"/>
          <p:nvPr/>
        </p:nvSpPr>
        <p:spPr>
          <a:xfrm>
            <a:off x="4114800" y="1536192"/>
            <a:ext cx="292608" cy="292608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670E0EA-02E4-4082-D7AC-362A4602A001}"/>
              </a:ext>
            </a:extLst>
          </p:cNvPr>
          <p:cNvSpPr txBox="1"/>
          <p:nvPr/>
        </p:nvSpPr>
        <p:spPr>
          <a:xfrm>
            <a:off x="502920" y="18288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Compañía</a:t>
            </a:r>
            <a:endParaRPr lang="en-US" sz="1100" dirty="0"/>
          </a:p>
        </p:txBody>
      </p:sp>
      <p:sp>
        <p:nvSpPr>
          <p:cNvPr id="11" name="Campo Compañía">
            <a:extLst>
              <a:ext uri="{FF2B5EF4-FFF2-40B4-BE49-F238E27FC236}">
                <a16:creationId xmlns:a16="http://schemas.microsoft.com/office/drawing/2014/main" id="{E8EA8176-7CF5-69B1-C1F6-0D416B4CFC9C}"/>
              </a:ext>
            </a:extLst>
          </p:cNvPr>
          <p:cNvSpPr txBox="1"/>
          <p:nvPr/>
        </p:nvSpPr>
        <p:spPr>
          <a:xfrm>
            <a:off x="2148840" y="1828800"/>
            <a:ext cx="2194560" cy="274320"/>
          </a:xfrm>
          <a:prstGeom prst="rect">
            <a:avLst/>
          </a:prstGeom>
          <a:solidFill>
            <a:schemeClr val="bg2"/>
          </a:solidFill>
          <a:ln w="9525">
            <a:solidFill>
              <a:srgbClr val="C9D1CA"/>
            </a:solidFill>
          </a:ln>
        </p:spPr>
        <p:txBody>
          <a:bodyPr wrap="square" lIns="0" tIns="76200" rIns="7620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1 ▾</a:t>
            </a:r>
            <a:endParaRPr lang="en-US" sz="11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D0195CD5-EDBD-EEB7-85D3-722CDC142FE7}"/>
              </a:ext>
            </a:extLst>
          </p:cNvPr>
          <p:cNvSpPr txBox="1"/>
          <p:nvPr/>
        </p:nvSpPr>
        <p:spPr>
          <a:xfrm>
            <a:off x="502920" y="211683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Cliente</a:t>
            </a:r>
            <a:endParaRPr lang="en-US" sz="1100" dirty="0"/>
          </a:p>
        </p:txBody>
      </p:sp>
      <p:sp>
        <p:nvSpPr>
          <p:cNvPr id="13" name="Campo Cliente">
            <a:extLst>
              <a:ext uri="{FF2B5EF4-FFF2-40B4-BE49-F238E27FC236}">
                <a16:creationId xmlns:a16="http://schemas.microsoft.com/office/drawing/2014/main" id="{01115C7E-2A2F-9EC3-228D-4C3E085B5F1F}"/>
              </a:ext>
            </a:extLst>
          </p:cNvPr>
          <p:cNvSpPr txBox="1"/>
          <p:nvPr/>
        </p:nvSpPr>
        <p:spPr>
          <a:xfrm>
            <a:off x="2148840" y="2116836"/>
            <a:ext cx="2194560" cy="274320"/>
          </a:xfrm>
          <a:prstGeom prst="rect">
            <a:avLst/>
          </a:prstGeom>
          <a:solidFill>
            <a:schemeClr val="bg2"/>
          </a:solidFill>
          <a:ln w="9525">
            <a:solidFill>
              <a:srgbClr val="C9D1CA"/>
            </a:solidFill>
          </a:ln>
        </p:spPr>
        <p:txBody>
          <a:bodyPr wrap="square" lIns="0" tIns="76200" rIns="7620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Cliente_105 ▾</a:t>
            </a:r>
            <a:endParaRPr lang="en-US" sz="11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4B90ADE-7B33-DAB8-8D04-CC3D2BC44940}"/>
              </a:ext>
            </a:extLst>
          </p:cNvPr>
          <p:cNvSpPr txBox="1"/>
          <p:nvPr/>
        </p:nvSpPr>
        <p:spPr>
          <a:xfrm>
            <a:off x="502920" y="240487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Puerto de origen</a:t>
            </a:r>
            <a:endParaRPr lang="en-US" sz="1100" dirty="0"/>
          </a:p>
        </p:txBody>
      </p:sp>
      <p:sp>
        <p:nvSpPr>
          <p:cNvPr id="15" name="Campo Puerto de origen">
            <a:extLst>
              <a:ext uri="{FF2B5EF4-FFF2-40B4-BE49-F238E27FC236}">
                <a16:creationId xmlns:a16="http://schemas.microsoft.com/office/drawing/2014/main" id="{9E4B3814-43EC-EA58-3235-C43363AF7B06}"/>
              </a:ext>
            </a:extLst>
          </p:cNvPr>
          <p:cNvSpPr txBox="1"/>
          <p:nvPr/>
        </p:nvSpPr>
        <p:spPr>
          <a:xfrm>
            <a:off x="2148840" y="2404872"/>
            <a:ext cx="2194560" cy="274320"/>
          </a:xfrm>
          <a:prstGeom prst="rect">
            <a:avLst/>
          </a:prstGeom>
          <a:solidFill>
            <a:schemeClr val="bg2"/>
          </a:solidFill>
          <a:ln w="9525">
            <a:solidFill>
              <a:srgbClr val="C9D1CA"/>
            </a:solidFill>
          </a:ln>
        </p:spPr>
        <p:txBody>
          <a:bodyPr wrap="square" lIns="0" tIns="76200" rIns="7620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Shanghai ▾</a:t>
            </a:r>
            <a:endParaRPr lang="en-US" sz="11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50792CB3-33F4-68C1-5E07-CF0BCAE5A284}"/>
              </a:ext>
            </a:extLst>
          </p:cNvPr>
          <p:cNvSpPr txBox="1"/>
          <p:nvPr/>
        </p:nvSpPr>
        <p:spPr>
          <a:xfrm>
            <a:off x="502920" y="269290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Puerto de destino</a:t>
            </a:r>
            <a:endParaRPr lang="en-US" sz="1100" dirty="0"/>
          </a:p>
        </p:txBody>
      </p:sp>
      <p:sp>
        <p:nvSpPr>
          <p:cNvPr id="17" name="Campo Puerto de destino">
            <a:extLst>
              <a:ext uri="{FF2B5EF4-FFF2-40B4-BE49-F238E27FC236}">
                <a16:creationId xmlns:a16="http://schemas.microsoft.com/office/drawing/2014/main" id="{AD9202E0-54D2-746A-420B-08EB0004C417}"/>
              </a:ext>
            </a:extLst>
          </p:cNvPr>
          <p:cNvSpPr txBox="1"/>
          <p:nvPr/>
        </p:nvSpPr>
        <p:spPr>
          <a:xfrm>
            <a:off x="2148840" y="2692908"/>
            <a:ext cx="2194560" cy="274320"/>
          </a:xfrm>
          <a:prstGeom prst="rect">
            <a:avLst/>
          </a:prstGeom>
          <a:solidFill>
            <a:schemeClr val="bg2"/>
          </a:solidFill>
          <a:ln w="9525">
            <a:solidFill>
              <a:srgbClr val="C9D1CA"/>
            </a:solidFill>
          </a:ln>
        </p:spPr>
        <p:txBody>
          <a:bodyPr wrap="square" lIns="0" tIns="76200" rIns="7620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Toronto, ON ▾</a:t>
            </a:r>
            <a:endParaRPr lang="en-US" sz="11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5C943EC6-A0CE-C4C4-E078-F440D3CD1A23}"/>
              </a:ext>
            </a:extLst>
          </p:cNvPr>
          <p:cNvSpPr txBox="1"/>
          <p:nvPr/>
        </p:nvSpPr>
        <p:spPr>
          <a:xfrm>
            <a:off x="502920" y="298094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Ciudad de entrega</a:t>
            </a:r>
            <a:endParaRPr lang="en-US" sz="1100" dirty="0"/>
          </a:p>
        </p:txBody>
      </p:sp>
      <p:sp>
        <p:nvSpPr>
          <p:cNvPr id="19" name="Campo Ciudad de entrega">
            <a:extLst>
              <a:ext uri="{FF2B5EF4-FFF2-40B4-BE49-F238E27FC236}">
                <a16:creationId xmlns:a16="http://schemas.microsoft.com/office/drawing/2014/main" id="{8311516F-951A-F898-FEFE-74A3080E9D94}"/>
              </a:ext>
            </a:extLst>
          </p:cNvPr>
          <p:cNvSpPr txBox="1"/>
          <p:nvPr/>
        </p:nvSpPr>
        <p:spPr>
          <a:xfrm>
            <a:off x="2148840" y="2980944"/>
            <a:ext cx="2194560" cy="274320"/>
          </a:xfrm>
          <a:prstGeom prst="rect">
            <a:avLst/>
          </a:prstGeom>
          <a:solidFill>
            <a:schemeClr val="bg2"/>
          </a:solidFill>
          <a:ln w="9525">
            <a:solidFill>
              <a:srgbClr val="C9D1CA"/>
            </a:solidFill>
          </a:ln>
        </p:spPr>
        <p:txBody>
          <a:bodyPr wrap="square" lIns="0" tIns="76200" rIns="7620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Bradford, ON ▾</a:t>
            </a:r>
            <a:endParaRPr lang="en-US" sz="11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D151F1D7-CF43-61DB-2182-0EEE131E3B3E}"/>
              </a:ext>
            </a:extLst>
          </p:cNvPr>
          <p:cNvSpPr txBox="1"/>
          <p:nvPr/>
        </p:nvSpPr>
        <p:spPr>
          <a:xfrm>
            <a:off x="502920" y="32689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Tipo de contenedor</a:t>
            </a:r>
            <a:endParaRPr lang="en-US" sz="1100" dirty="0"/>
          </a:p>
        </p:txBody>
      </p:sp>
      <p:sp>
        <p:nvSpPr>
          <p:cNvPr id="21" name="Campo Tipo de contenedor">
            <a:extLst>
              <a:ext uri="{FF2B5EF4-FFF2-40B4-BE49-F238E27FC236}">
                <a16:creationId xmlns:a16="http://schemas.microsoft.com/office/drawing/2014/main" id="{3660B0A2-1029-F9B1-611F-88D5DDAF5272}"/>
              </a:ext>
            </a:extLst>
          </p:cNvPr>
          <p:cNvSpPr txBox="1"/>
          <p:nvPr/>
        </p:nvSpPr>
        <p:spPr>
          <a:xfrm>
            <a:off x="2148840" y="3268980"/>
            <a:ext cx="2194560" cy="274320"/>
          </a:xfrm>
          <a:prstGeom prst="rect">
            <a:avLst/>
          </a:prstGeom>
          <a:solidFill>
            <a:schemeClr val="bg2"/>
          </a:solidFill>
          <a:ln w="9525">
            <a:solidFill>
              <a:srgbClr val="C9D1CA"/>
            </a:solidFill>
          </a:ln>
        </p:spPr>
        <p:txBody>
          <a:bodyPr wrap="square" lIns="0" tIns="76200" rIns="7620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40FT ▾</a:t>
            </a:r>
            <a:endParaRPr lang="en-US" sz="11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75D8120F-268F-4F75-3EAB-29FD2A9D7628}"/>
              </a:ext>
            </a:extLst>
          </p:cNvPr>
          <p:cNvSpPr txBox="1"/>
          <p:nvPr/>
        </p:nvSpPr>
        <p:spPr>
          <a:xfrm>
            <a:off x="502920" y="355701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Skids totales</a:t>
            </a:r>
            <a:endParaRPr lang="en-US" sz="1100" dirty="0"/>
          </a:p>
        </p:txBody>
      </p:sp>
      <p:sp>
        <p:nvSpPr>
          <p:cNvPr id="23" name="Campo Skids totales">
            <a:extLst>
              <a:ext uri="{FF2B5EF4-FFF2-40B4-BE49-F238E27FC236}">
                <a16:creationId xmlns:a16="http://schemas.microsoft.com/office/drawing/2014/main" id="{43342014-6336-F024-8968-2550A05F8E64}"/>
              </a:ext>
            </a:extLst>
          </p:cNvPr>
          <p:cNvSpPr txBox="1"/>
          <p:nvPr/>
        </p:nvSpPr>
        <p:spPr>
          <a:xfrm>
            <a:off x="2148840" y="3557016"/>
            <a:ext cx="2194560" cy="274320"/>
          </a:xfrm>
          <a:prstGeom prst="rect">
            <a:avLst/>
          </a:prstGeom>
          <a:solidFill>
            <a:schemeClr val="bg2"/>
          </a:solidFill>
          <a:ln w="9525">
            <a:solidFill>
              <a:srgbClr val="C9D1CA"/>
            </a:solidFill>
          </a:ln>
        </p:spPr>
        <p:txBody>
          <a:bodyPr wrap="square" lIns="0" tIns="76200" rIns="7620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20</a:t>
            </a:r>
            <a:endParaRPr lang="en-US" sz="11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A805A38C-6321-E1A2-931C-21386BB7D524}"/>
              </a:ext>
            </a:extLst>
          </p:cNvPr>
          <p:cNvSpPr txBox="1"/>
          <p:nvPr/>
        </p:nvSpPr>
        <p:spPr>
          <a:xfrm>
            <a:off x="502920" y="384505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  · Delivered</a:t>
            </a:r>
            <a:endParaRPr lang="en-US" sz="1100" dirty="0"/>
          </a:p>
        </p:txBody>
      </p:sp>
      <p:sp>
        <p:nvSpPr>
          <p:cNvPr id="25" name="Campo   · Delivered">
            <a:extLst>
              <a:ext uri="{FF2B5EF4-FFF2-40B4-BE49-F238E27FC236}">
                <a16:creationId xmlns:a16="http://schemas.microsoft.com/office/drawing/2014/main" id="{873CFBD8-8992-56E6-37B7-E421AA3BE5F5}"/>
              </a:ext>
            </a:extLst>
          </p:cNvPr>
          <p:cNvSpPr txBox="1"/>
          <p:nvPr/>
        </p:nvSpPr>
        <p:spPr>
          <a:xfrm>
            <a:off x="2148840" y="3845052"/>
            <a:ext cx="2194560" cy="274320"/>
          </a:xfrm>
          <a:prstGeom prst="rect">
            <a:avLst/>
          </a:prstGeom>
          <a:solidFill>
            <a:schemeClr val="bg2"/>
          </a:solidFill>
          <a:ln w="9525">
            <a:solidFill>
              <a:srgbClr val="C9D1CA"/>
            </a:solidFill>
          </a:ln>
        </p:spPr>
        <p:txBody>
          <a:bodyPr wrap="square" lIns="0" tIns="76200" rIns="7620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12</a:t>
            </a:r>
            <a:endParaRPr lang="en-US" sz="11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4ACDDEF4-F323-A97D-06F7-43C377BEDC4D}"/>
              </a:ext>
            </a:extLst>
          </p:cNvPr>
          <p:cNvSpPr txBox="1"/>
          <p:nvPr/>
        </p:nvSpPr>
        <p:spPr>
          <a:xfrm>
            <a:off x="502920" y="413308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  · Undelivered</a:t>
            </a:r>
            <a:endParaRPr lang="en-US" sz="1100" dirty="0"/>
          </a:p>
        </p:txBody>
      </p:sp>
      <p:sp>
        <p:nvSpPr>
          <p:cNvPr id="27" name="Campo   · Undelivered">
            <a:extLst>
              <a:ext uri="{FF2B5EF4-FFF2-40B4-BE49-F238E27FC236}">
                <a16:creationId xmlns:a16="http://schemas.microsoft.com/office/drawing/2014/main" id="{56BB0EA1-6673-5647-75EF-34C33D2B88CF}"/>
              </a:ext>
            </a:extLst>
          </p:cNvPr>
          <p:cNvSpPr txBox="1"/>
          <p:nvPr/>
        </p:nvSpPr>
        <p:spPr>
          <a:xfrm>
            <a:off x="2148840" y="4133088"/>
            <a:ext cx="2194560" cy="274320"/>
          </a:xfrm>
          <a:prstGeom prst="rect">
            <a:avLst/>
          </a:prstGeom>
          <a:solidFill>
            <a:schemeClr val="bg2"/>
          </a:solidFill>
          <a:ln w="9525">
            <a:solidFill>
              <a:srgbClr val="C9D1CA"/>
            </a:solidFill>
          </a:ln>
        </p:spPr>
        <p:txBody>
          <a:bodyPr wrap="square" lIns="0" tIns="76200" rIns="7620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8</a:t>
            </a:r>
            <a:endParaRPr lang="en-US" sz="11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A8B8463C-E4BC-6AF5-F7B8-C45098416157}"/>
              </a:ext>
            </a:extLst>
          </p:cNvPr>
          <p:cNvSpPr txBox="1"/>
          <p:nvPr/>
        </p:nvSpPr>
        <p:spPr>
          <a:xfrm>
            <a:off x="502920" y="442112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Fecha de la orden</a:t>
            </a:r>
            <a:endParaRPr lang="en-US" sz="1100" dirty="0"/>
          </a:p>
        </p:txBody>
      </p:sp>
      <p:sp>
        <p:nvSpPr>
          <p:cNvPr id="29" name="Campo Fecha de la orden">
            <a:extLst>
              <a:ext uri="{FF2B5EF4-FFF2-40B4-BE49-F238E27FC236}">
                <a16:creationId xmlns:a16="http://schemas.microsoft.com/office/drawing/2014/main" id="{7C4719C6-56B5-D811-1CFD-1F6BF40F16B1}"/>
              </a:ext>
            </a:extLst>
          </p:cNvPr>
          <p:cNvSpPr txBox="1"/>
          <p:nvPr/>
        </p:nvSpPr>
        <p:spPr>
          <a:xfrm>
            <a:off x="2148840" y="4421124"/>
            <a:ext cx="2194560" cy="274320"/>
          </a:xfrm>
          <a:prstGeom prst="rect">
            <a:avLst/>
          </a:prstGeom>
          <a:solidFill>
            <a:schemeClr val="bg2"/>
          </a:solidFill>
          <a:ln w="9525">
            <a:solidFill>
              <a:srgbClr val="C9D1CA"/>
            </a:solidFill>
          </a:ln>
        </p:spPr>
        <p:txBody>
          <a:bodyPr wrap="square" lIns="0" tIns="76200" rIns="7620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23/10/2026 </a:t>
            </a:r>
            <a:endParaRPr lang="en-US" sz="11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1792499D-BF8F-8C93-8272-2495BC7F5B42}"/>
              </a:ext>
            </a:extLst>
          </p:cNvPr>
          <p:cNvSpPr txBox="1"/>
          <p:nvPr/>
        </p:nvSpPr>
        <p:spPr>
          <a:xfrm>
            <a:off x="502920" y="47091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Fecha pedida</a:t>
            </a:r>
            <a:endParaRPr lang="en-US" sz="1100" dirty="0"/>
          </a:p>
        </p:txBody>
      </p:sp>
      <p:sp>
        <p:nvSpPr>
          <p:cNvPr id="31" name="Campo Fecha pedida">
            <a:extLst>
              <a:ext uri="{FF2B5EF4-FFF2-40B4-BE49-F238E27FC236}">
                <a16:creationId xmlns:a16="http://schemas.microsoft.com/office/drawing/2014/main" id="{27A51C0B-F977-1D28-45A7-48A19A50214A}"/>
              </a:ext>
            </a:extLst>
          </p:cNvPr>
          <p:cNvSpPr txBox="1"/>
          <p:nvPr/>
        </p:nvSpPr>
        <p:spPr>
          <a:xfrm>
            <a:off x="2148840" y="4709160"/>
            <a:ext cx="2194560" cy="274320"/>
          </a:xfrm>
          <a:prstGeom prst="rect">
            <a:avLst/>
          </a:prstGeom>
          <a:solidFill>
            <a:schemeClr val="bg2"/>
          </a:solidFill>
          <a:ln w="9525">
            <a:solidFill>
              <a:srgbClr val="C9D1CA"/>
            </a:solidFill>
          </a:ln>
        </p:spPr>
        <p:txBody>
          <a:bodyPr wrap="square" lIns="0" tIns="76200" rIns="7620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15/02/2027</a:t>
            </a:r>
            <a:endParaRPr lang="en-US" sz="11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672D966D-4511-F719-9B49-9A3C8656E364}"/>
              </a:ext>
            </a:extLst>
          </p:cNvPr>
          <p:cNvSpPr txBox="1"/>
          <p:nvPr/>
        </p:nvSpPr>
        <p:spPr>
          <a:xfrm>
            <a:off x="502920" y="499719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Base rate ($)</a:t>
            </a:r>
            <a:endParaRPr lang="en-US" sz="1100" dirty="0"/>
          </a:p>
        </p:txBody>
      </p:sp>
      <p:sp>
        <p:nvSpPr>
          <p:cNvPr id="33" name="Campo Base rate ($)">
            <a:extLst>
              <a:ext uri="{FF2B5EF4-FFF2-40B4-BE49-F238E27FC236}">
                <a16:creationId xmlns:a16="http://schemas.microsoft.com/office/drawing/2014/main" id="{E55FC58B-96EE-1608-1744-45A0058805E9}"/>
              </a:ext>
            </a:extLst>
          </p:cNvPr>
          <p:cNvSpPr txBox="1"/>
          <p:nvPr/>
        </p:nvSpPr>
        <p:spPr>
          <a:xfrm>
            <a:off x="2148840" y="4997196"/>
            <a:ext cx="2194560" cy="274320"/>
          </a:xfrm>
          <a:prstGeom prst="rect">
            <a:avLst/>
          </a:prstGeom>
          <a:solidFill>
            <a:schemeClr val="bg2"/>
          </a:solidFill>
          <a:ln w="9525">
            <a:solidFill>
              <a:srgbClr val="C9D1CA"/>
            </a:solidFill>
          </a:ln>
        </p:spPr>
        <p:txBody>
          <a:bodyPr wrap="square" lIns="0" tIns="76200" rIns="7620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6.500</a:t>
            </a:r>
            <a:endParaRPr lang="en-US" sz="110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F08CD432-B4FC-DC01-6023-9E16CB72F8F4}"/>
              </a:ext>
            </a:extLst>
          </p:cNvPr>
          <p:cNvSpPr txBox="1"/>
          <p:nvPr/>
        </p:nvSpPr>
        <p:spPr>
          <a:xfrm>
            <a:off x="502920" y="528523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Mark up</a:t>
            </a:r>
            <a:endParaRPr lang="en-US" sz="1100" dirty="0"/>
          </a:p>
        </p:txBody>
      </p:sp>
      <p:sp>
        <p:nvSpPr>
          <p:cNvPr id="35" name="Campo Mark up">
            <a:extLst>
              <a:ext uri="{FF2B5EF4-FFF2-40B4-BE49-F238E27FC236}">
                <a16:creationId xmlns:a16="http://schemas.microsoft.com/office/drawing/2014/main" id="{4A9F9B2E-0098-ADFE-42B3-C0C0C4E9390E}"/>
              </a:ext>
            </a:extLst>
          </p:cNvPr>
          <p:cNvSpPr txBox="1"/>
          <p:nvPr/>
        </p:nvSpPr>
        <p:spPr>
          <a:xfrm>
            <a:off x="2148840" y="5285232"/>
            <a:ext cx="2194560" cy="274320"/>
          </a:xfrm>
          <a:prstGeom prst="rect">
            <a:avLst/>
          </a:prstGeom>
          <a:solidFill>
            <a:schemeClr val="bg2"/>
          </a:solidFill>
          <a:ln w="9525">
            <a:solidFill>
              <a:srgbClr val="C9D1CA"/>
            </a:solidFill>
          </a:ln>
        </p:spPr>
        <p:txBody>
          <a:bodyPr wrap="square" lIns="0" tIns="76200" rIns="7620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1.3 ▾</a:t>
            </a:r>
            <a:endParaRPr lang="en-US" sz="1100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7712DA2E-B85C-62E8-F241-6C589E1C78B6}"/>
              </a:ext>
            </a:extLst>
          </p:cNvPr>
          <p:cNvSpPr txBox="1"/>
          <p:nvPr/>
        </p:nvSpPr>
        <p:spPr>
          <a:xfrm>
            <a:off x="502920" y="557326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Valor de la orden ($)</a:t>
            </a:r>
            <a:endParaRPr lang="en-US" sz="1100" dirty="0"/>
          </a:p>
        </p:txBody>
      </p:sp>
      <p:sp>
        <p:nvSpPr>
          <p:cNvPr id="37" name="Campo Valor de la orden ($)">
            <a:extLst>
              <a:ext uri="{FF2B5EF4-FFF2-40B4-BE49-F238E27FC236}">
                <a16:creationId xmlns:a16="http://schemas.microsoft.com/office/drawing/2014/main" id="{A36A5342-C835-BE2A-FB65-7A2D335856D1}"/>
              </a:ext>
            </a:extLst>
          </p:cNvPr>
          <p:cNvSpPr txBox="1"/>
          <p:nvPr/>
        </p:nvSpPr>
        <p:spPr>
          <a:xfrm>
            <a:off x="2148840" y="5573268"/>
            <a:ext cx="2194560" cy="274320"/>
          </a:xfrm>
          <a:prstGeom prst="rect">
            <a:avLst/>
          </a:prstGeom>
          <a:solidFill>
            <a:schemeClr val="bg2"/>
          </a:solidFill>
          <a:ln w="9525">
            <a:solidFill>
              <a:srgbClr val="C9D1CA"/>
            </a:solidFill>
          </a:ln>
        </p:spPr>
        <p:txBody>
          <a:bodyPr wrap="square" lIns="0" tIns="76200" rIns="7620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25.000</a:t>
            </a:r>
            <a:endParaRPr lang="en-US" sz="1100" dirty="0"/>
          </a:p>
        </p:txBody>
      </p:sp>
      <p:sp>
        <p:nvSpPr>
          <p:cNvPr id="38" name="Botón Estimar">
            <a:extLst>
              <a:ext uri="{FF2B5EF4-FFF2-40B4-BE49-F238E27FC236}">
                <a16:creationId xmlns:a16="http://schemas.microsoft.com/office/drawing/2014/main" id="{A8754D83-770D-8F3F-9502-C8EFA08E4B5C}"/>
              </a:ext>
            </a:extLst>
          </p:cNvPr>
          <p:cNvSpPr txBox="1"/>
          <p:nvPr/>
        </p:nvSpPr>
        <p:spPr>
          <a:xfrm>
            <a:off x="1463040" y="5925312"/>
            <a:ext cx="2103120" cy="292608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ESTIMAR</a:t>
            </a:r>
            <a:endParaRPr lang="en-US" sz="1200" dirty="0"/>
          </a:p>
        </p:txBody>
      </p:sp>
      <p:sp>
        <p:nvSpPr>
          <p:cNvPr id="39" name="Panel Resultado estimado">
            <a:extLst>
              <a:ext uri="{FF2B5EF4-FFF2-40B4-BE49-F238E27FC236}">
                <a16:creationId xmlns:a16="http://schemas.microsoft.com/office/drawing/2014/main" id="{D359A5A7-5401-D681-6933-E66CD955A6D6}"/>
              </a:ext>
            </a:extLst>
          </p:cNvPr>
          <p:cNvSpPr/>
          <p:nvPr/>
        </p:nvSpPr>
        <p:spPr>
          <a:xfrm>
            <a:off x="4663440" y="1463040"/>
            <a:ext cx="4114800" cy="4846320"/>
          </a:xfrm>
          <a:prstGeom prst="roundRect">
            <a:avLst>
              <a:gd name="adj" fmla="val 1778"/>
            </a:avLst>
          </a:prstGeom>
          <a:solidFill>
            <a:schemeClr val="bg1"/>
          </a:solidFill>
          <a:ln w="12700">
            <a:solidFill>
              <a:srgbClr val="C9D1CA"/>
            </a:solidFill>
            <a:prstDash val="solid"/>
          </a:ln>
        </p:spPr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2B2573B6-40EF-B2B0-6395-DE5F3273A469}"/>
              </a:ext>
            </a:extLst>
          </p:cNvPr>
          <p:cNvSpPr txBox="1"/>
          <p:nvPr/>
        </p:nvSpPr>
        <p:spPr>
          <a:xfrm>
            <a:off x="4800600" y="15361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Resultado estimado</a:t>
            </a:r>
            <a:endParaRPr lang="en-US" sz="1300" dirty="0"/>
          </a:p>
        </p:txBody>
      </p:sp>
      <p:sp>
        <p:nvSpPr>
          <p:cNvPr id="41" name="Marcador 2">
            <a:extLst>
              <a:ext uri="{FF2B5EF4-FFF2-40B4-BE49-F238E27FC236}">
                <a16:creationId xmlns:a16="http://schemas.microsoft.com/office/drawing/2014/main" id="{A3F17EAF-8163-C6AE-BE59-0B4844AFC34E}"/>
              </a:ext>
            </a:extLst>
          </p:cNvPr>
          <p:cNvSpPr txBox="1"/>
          <p:nvPr/>
        </p:nvSpPr>
        <p:spPr>
          <a:xfrm>
            <a:off x="8366760" y="1536192"/>
            <a:ext cx="292608" cy="292608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2</a:t>
            </a:r>
            <a:endParaRPr lang="en-US" sz="1200" dirty="0"/>
          </a:p>
        </p:txBody>
      </p:sp>
      <p:sp>
        <p:nvSpPr>
          <p:cNvPr id="42" name="Tarjeta Ocean freight estimado">
            <a:extLst>
              <a:ext uri="{FF2B5EF4-FFF2-40B4-BE49-F238E27FC236}">
                <a16:creationId xmlns:a16="http://schemas.microsoft.com/office/drawing/2014/main" id="{7EDFFBD2-96FE-A573-3884-567592146E98}"/>
              </a:ext>
            </a:extLst>
          </p:cNvPr>
          <p:cNvSpPr/>
          <p:nvPr/>
        </p:nvSpPr>
        <p:spPr>
          <a:xfrm>
            <a:off x="4956048" y="1874520"/>
            <a:ext cx="1783080" cy="77724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93B1B0E4-BFD8-D950-FE63-0D98A91C2D01}"/>
              </a:ext>
            </a:extLst>
          </p:cNvPr>
          <p:cNvSpPr txBox="1"/>
          <p:nvPr/>
        </p:nvSpPr>
        <p:spPr>
          <a:xfrm>
            <a:off x="5065776" y="192938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Ocean freight estimado</a:t>
            </a:r>
            <a:endParaRPr lang="en-US" sz="1000" dirty="0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50BB648B-2827-DCB6-59B9-0E2AF934B772}"/>
              </a:ext>
            </a:extLst>
          </p:cNvPr>
          <p:cNvSpPr txBox="1"/>
          <p:nvPr/>
        </p:nvSpPr>
        <p:spPr>
          <a:xfrm>
            <a:off x="5065776" y="2167128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2060"/>
                </a:solidFill>
              </a:rPr>
              <a:t>$ X.XXX</a:t>
            </a:r>
            <a:endParaRPr lang="en-US" sz="2000" dirty="0">
              <a:solidFill>
                <a:srgbClr val="002060"/>
              </a:solidFill>
            </a:endParaRPr>
          </a:p>
        </p:txBody>
      </p:sp>
      <p:sp>
        <p:nvSpPr>
          <p:cNvPr id="45" name="Tarjeta Land freight estimado">
            <a:extLst>
              <a:ext uri="{FF2B5EF4-FFF2-40B4-BE49-F238E27FC236}">
                <a16:creationId xmlns:a16="http://schemas.microsoft.com/office/drawing/2014/main" id="{E03F1DB1-867D-A7F6-F83C-DD41528C4352}"/>
              </a:ext>
            </a:extLst>
          </p:cNvPr>
          <p:cNvSpPr/>
          <p:nvPr/>
        </p:nvSpPr>
        <p:spPr>
          <a:xfrm>
            <a:off x="6830568" y="1874520"/>
            <a:ext cx="1783080" cy="77724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0229763B-1FCC-3D17-7C19-2F02D71C1676}"/>
              </a:ext>
            </a:extLst>
          </p:cNvPr>
          <p:cNvSpPr txBox="1"/>
          <p:nvPr/>
        </p:nvSpPr>
        <p:spPr>
          <a:xfrm>
            <a:off x="6940296" y="192938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Land freight estimado</a:t>
            </a:r>
            <a:endParaRPr lang="en-US" sz="1000" dirty="0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9CD5A437-7A3A-40E9-7337-5D7E60513283}"/>
              </a:ext>
            </a:extLst>
          </p:cNvPr>
          <p:cNvSpPr txBox="1"/>
          <p:nvPr/>
        </p:nvSpPr>
        <p:spPr>
          <a:xfrm>
            <a:off x="6940296" y="2167128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2060"/>
                </a:solidFill>
              </a:rPr>
              <a:t>$ X.XXX</a:t>
            </a:r>
            <a:endParaRPr lang="en-US" sz="2000" dirty="0">
              <a:solidFill>
                <a:srgbClr val="002060"/>
              </a:solidFill>
            </a:endParaRPr>
          </a:p>
        </p:txBody>
      </p:sp>
      <p:sp>
        <p:nvSpPr>
          <p:cNvPr id="48" name="Marcador 3">
            <a:extLst>
              <a:ext uri="{FF2B5EF4-FFF2-40B4-BE49-F238E27FC236}">
                <a16:creationId xmlns:a16="http://schemas.microsoft.com/office/drawing/2014/main" id="{CC1CEEA1-557E-C988-543C-76BF0FE50442}"/>
              </a:ext>
            </a:extLst>
          </p:cNvPr>
          <p:cNvSpPr txBox="1"/>
          <p:nvPr/>
        </p:nvSpPr>
        <p:spPr>
          <a:xfrm>
            <a:off x="4645152" y="2103120"/>
            <a:ext cx="292608" cy="292608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3</a:t>
            </a:r>
            <a:endParaRPr lang="en-US" sz="1200" dirty="0"/>
          </a:p>
        </p:txBody>
      </p:sp>
      <p:sp>
        <p:nvSpPr>
          <p:cNvPr id="49" name="Tarjeta Surcharge para el cliente">
            <a:extLst>
              <a:ext uri="{FF2B5EF4-FFF2-40B4-BE49-F238E27FC236}">
                <a16:creationId xmlns:a16="http://schemas.microsoft.com/office/drawing/2014/main" id="{00CCEAC1-91E8-EB70-0E13-AB3AE86B2018}"/>
              </a:ext>
            </a:extLst>
          </p:cNvPr>
          <p:cNvSpPr/>
          <p:nvPr/>
        </p:nvSpPr>
        <p:spPr>
          <a:xfrm>
            <a:off x="4956048" y="2743200"/>
            <a:ext cx="1783080" cy="77724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F44C0337-E59D-D473-FED7-7EB2535AF77F}"/>
              </a:ext>
            </a:extLst>
          </p:cNvPr>
          <p:cNvSpPr txBox="1"/>
          <p:nvPr/>
        </p:nvSpPr>
        <p:spPr>
          <a:xfrm>
            <a:off x="5065776" y="279806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Surcharge para el cliente</a:t>
            </a:r>
            <a:endParaRPr lang="en-US" sz="1000" dirty="0"/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CB9E33E1-0FA6-543B-F58D-9BD14B2A3CAA}"/>
              </a:ext>
            </a:extLst>
          </p:cNvPr>
          <p:cNvSpPr txBox="1"/>
          <p:nvPr/>
        </p:nvSpPr>
        <p:spPr>
          <a:xfrm>
            <a:off x="5065776" y="3035808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050"/>
                </a:solidFill>
              </a:rPr>
              <a:t>$ X.XXX</a:t>
            </a:r>
            <a:endParaRPr lang="en-US" sz="2000" dirty="0">
              <a:solidFill>
                <a:srgbClr val="00B050"/>
              </a:solidFill>
            </a:endParaRPr>
          </a:p>
        </p:txBody>
      </p:sp>
      <p:sp>
        <p:nvSpPr>
          <p:cNvPr id="52" name="Tarjeta Land freight para el cliente">
            <a:extLst>
              <a:ext uri="{FF2B5EF4-FFF2-40B4-BE49-F238E27FC236}">
                <a16:creationId xmlns:a16="http://schemas.microsoft.com/office/drawing/2014/main" id="{BB718360-2634-5313-4A59-B3D52067D25A}"/>
              </a:ext>
            </a:extLst>
          </p:cNvPr>
          <p:cNvSpPr/>
          <p:nvPr/>
        </p:nvSpPr>
        <p:spPr>
          <a:xfrm>
            <a:off x="6830568" y="2743200"/>
            <a:ext cx="1783080" cy="77724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72576FB2-9C49-4856-273F-6C8F5037B9FC}"/>
              </a:ext>
            </a:extLst>
          </p:cNvPr>
          <p:cNvSpPr txBox="1"/>
          <p:nvPr/>
        </p:nvSpPr>
        <p:spPr>
          <a:xfrm>
            <a:off x="6940296" y="279806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Land freight para el cliente</a:t>
            </a:r>
            <a:endParaRPr lang="en-US" sz="1000" dirty="0"/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8C642DEB-1251-5F68-B334-31FD4887B160}"/>
              </a:ext>
            </a:extLst>
          </p:cNvPr>
          <p:cNvSpPr txBox="1"/>
          <p:nvPr/>
        </p:nvSpPr>
        <p:spPr>
          <a:xfrm>
            <a:off x="6940296" y="3035808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050"/>
                </a:solidFill>
              </a:rPr>
              <a:t>$ X.XXX</a:t>
            </a:r>
            <a:endParaRPr lang="en-US" sz="2000" dirty="0">
              <a:solidFill>
                <a:srgbClr val="00B050"/>
              </a:solidFill>
            </a:endParaRPr>
          </a:p>
        </p:txBody>
      </p:sp>
      <p:sp>
        <p:nvSpPr>
          <p:cNvPr id="55" name="Marcador 4">
            <a:extLst>
              <a:ext uri="{FF2B5EF4-FFF2-40B4-BE49-F238E27FC236}">
                <a16:creationId xmlns:a16="http://schemas.microsoft.com/office/drawing/2014/main" id="{5355863B-45A3-BF82-05FD-DFE0CDD29818}"/>
              </a:ext>
            </a:extLst>
          </p:cNvPr>
          <p:cNvSpPr txBox="1"/>
          <p:nvPr/>
        </p:nvSpPr>
        <p:spPr>
          <a:xfrm>
            <a:off x="4645152" y="2971800"/>
            <a:ext cx="292608" cy="292608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4</a:t>
            </a:r>
            <a:endParaRPr lang="en-US" sz="1200" dirty="0"/>
          </a:p>
        </p:txBody>
      </p:sp>
      <p:sp>
        <p:nvSpPr>
          <p:cNvPr id="56" name="Total">
            <a:extLst>
              <a:ext uri="{FF2B5EF4-FFF2-40B4-BE49-F238E27FC236}">
                <a16:creationId xmlns:a16="http://schemas.microsoft.com/office/drawing/2014/main" id="{FBB809A0-34B2-1126-16EC-21186BA38BA2}"/>
              </a:ext>
            </a:extLst>
          </p:cNvPr>
          <p:cNvSpPr/>
          <p:nvPr/>
        </p:nvSpPr>
        <p:spPr>
          <a:xfrm>
            <a:off x="4956048" y="3611880"/>
            <a:ext cx="3657600" cy="868680"/>
          </a:xfrm>
          <a:prstGeom prst="roundRect">
            <a:avLst>
              <a:gd name="adj" fmla="val 631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C470BDEA-5AEE-1A6D-F38A-B280C232EA3F}"/>
              </a:ext>
            </a:extLst>
          </p:cNvPr>
          <p:cNvSpPr txBox="1"/>
          <p:nvPr/>
        </p:nvSpPr>
        <p:spPr>
          <a:xfrm>
            <a:off x="5074920" y="363931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Total en fletes: $ X.XXX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+18 % sobre el valor de la orden</a:t>
            </a:r>
            <a:endParaRPr lang="en-US" sz="1600" dirty="0"/>
          </a:p>
        </p:txBody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EDE09877-0A09-10CB-4824-418A21965E9E}"/>
              </a:ext>
            </a:extLst>
          </p:cNvPr>
          <p:cNvSpPr txBox="1"/>
          <p:nvPr/>
        </p:nvSpPr>
        <p:spPr>
          <a:xfrm>
            <a:off x="5074920" y="41788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</a:rPr>
              <a:t>Rango probable: $ X.XXX – $ X.XXX</a:t>
            </a:r>
            <a:endParaRPr lang="en-US" sz="1100" dirty="0"/>
          </a:p>
        </p:txBody>
      </p:sp>
      <p:sp>
        <p:nvSpPr>
          <p:cNvPr id="59" name="Marcador 5">
            <a:extLst>
              <a:ext uri="{FF2B5EF4-FFF2-40B4-BE49-F238E27FC236}">
                <a16:creationId xmlns:a16="http://schemas.microsoft.com/office/drawing/2014/main" id="{D2C900EC-E78C-3EEB-F82A-8ADA0DFC9D30}"/>
              </a:ext>
            </a:extLst>
          </p:cNvPr>
          <p:cNvSpPr txBox="1"/>
          <p:nvPr/>
        </p:nvSpPr>
        <p:spPr>
          <a:xfrm>
            <a:off x="4645152" y="3886200"/>
            <a:ext cx="292608" cy="292608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5</a:t>
            </a:r>
            <a:endParaRPr lang="en-US" sz="1200" dirty="0"/>
          </a:p>
        </p:txBody>
      </p:sp>
      <p:graphicFrame>
        <p:nvGraphicFramePr>
          <p:cNvPr id="60" name="Gráfica composición">
            <a:extLst>
              <a:ext uri="{FF2B5EF4-FFF2-40B4-BE49-F238E27FC236}">
                <a16:creationId xmlns:a16="http://schemas.microsoft.com/office/drawing/2014/main" id="{C56E1B47-6BBF-9140-AB3C-BED952BB06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54529123"/>
              </p:ext>
            </p:extLst>
          </p:nvPr>
        </p:nvGraphicFramePr>
        <p:xfrm>
          <a:off x="4846320" y="4526280"/>
          <a:ext cx="3840480" cy="1737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1" name="Panel de anotaciones">
            <a:extLst>
              <a:ext uri="{FF2B5EF4-FFF2-40B4-BE49-F238E27FC236}">
                <a16:creationId xmlns:a16="http://schemas.microsoft.com/office/drawing/2014/main" id="{2A70CBC3-4206-F7AE-D9B3-075538F7A058}"/>
              </a:ext>
            </a:extLst>
          </p:cNvPr>
          <p:cNvSpPr/>
          <p:nvPr/>
        </p:nvSpPr>
        <p:spPr>
          <a:xfrm>
            <a:off x="9006840" y="868680"/>
            <a:ext cx="2834640" cy="5440680"/>
          </a:xfrm>
          <a:prstGeom prst="roundRect">
            <a:avLst>
              <a:gd name="adj" fmla="val 3226"/>
            </a:avLst>
          </a:prstGeom>
          <a:solidFill>
            <a:srgbClr val="FFF6E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2" name="Text 59">
            <a:extLst>
              <a:ext uri="{FF2B5EF4-FFF2-40B4-BE49-F238E27FC236}">
                <a16:creationId xmlns:a16="http://schemas.microsoft.com/office/drawing/2014/main" id="{BEDD1592-80C3-0C16-DA7C-D237F83AA927}"/>
              </a:ext>
            </a:extLst>
          </p:cNvPr>
          <p:cNvSpPr txBox="1"/>
          <p:nvPr/>
        </p:nvSpPr>
        <p:spPr>
          <a:xfrm>
            <a:off x="9144000" y="9601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Relación con la pregunta de negocio</a:t>
            </a:r>
            <a:endParaRPr lang="en-US" sz="1300" dirty="0"/>
          </a:p>
        </p:txBody>
      </p:sp>
      <p:sp>
        <p:nvSpPr>
          <p:cNvPr id="63" name="Marcador 1">
            <a:extLst>
              <a:ext uri="{FF2B5EF4-FFF2-40B4-BE49-F238E27FC236}">
                <a16:creationId xmlns:a16="http://schemas.microsoft.com/office/drawing/2014/main" id="{320ACC1E-4163-A527-D242-54E570D7D2A3}"/>
              </a:ext>
            </a:extLst>
          </p:cNvPr>
          <p:cNvSpPr txBox="1"/>
          <p:nvPr/>
        </p:nvSpPr>
        <p:spPr>
          <a:xfrm>
            <a:off x="9144000" y="1463040"/>
            <a:ext cx="292608" cy="292608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1</a:t>
            </a:r>
            <a:endParaRPr lang="en-US" sz="1200" dirty="0"/>
          </a:p>
        </p:txBody>
      </p:sp>
      <p:sp>
        <p:nvSpPr>
          <p:cNvPr id="64" name="Text 61">
            <a:extLst>
              <a:ext uri="{FF2B5EF4-FFF2-40B4-BE49-F238E27FC236}">
                <a16:creationId xmlns:a16="http://schemas.microsoft.com/office/drawing/2014/main" id="{4C3543AE-5E16-D544-F519-9706DDF9C63A}"/>
              </a:ext>
            </a:extLst>
          </p:cNvPr>
          <p:cNvSpPr txBox="1"/>
          <p:nvPr/>
        </p:nvSpPr>
        <p:spPr>
          <a:xfrm>
            <a:off x="9528048" y="141732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Datos que </a:t>
            </a:r>
            <a:r>
              <a:rPr lang="en-US" sz="1100" dirty="0" err="1">
                <a:solidFill>
                  <a:schemeClr val="tx1"/>
                </a:solidFill>
              </a:rPr>
              <a:t>ventas</a:t>
            </a:r>
            <a:r>
              <a:rPr lang="en-US" sz="1100" dirty="0"/>
              <a:t>,</a:t>
            </a:r>
            <a:r>
              <a:rPr lang="en-US" sz="1100" dirty="0">
                <a:solidFill>
                  <a:schemeClr val="tx1"/>
                </a:solidFill>
              </a:rPr>
              <a:t> </a:t>
            </a:r>
            <a:r>
              <a:rPr lang="en-US" sz="1100" dirty="0" err="1">
                <a:solidFill>
                  <a:schemeClr val="tx1"/>
                </a:solidFill>
              </a:rPr>
              <a:t>logística</a:t>
            </a:r>
            <a:r>
              <a:rPr lang="en-US" sz="1100" dirty="0">
                <a:solidFill>
                  <a:schemeClr val="tx1"/>
                </a:solidFill>
              </a:rPr>
              <a:t> y </a:t>
            </a:r>
            <a:r>
              <a:rPr lang="en-US" sz="1100" dirty="0" err="1">
                <a:solidFill>
                  <a:schemeClr val="tx1"/>
                </a:solidFill>
              </a:rPr>
              <a:t>costos</a:t>
            </a:r>
            <a:r>
              <a:rPr lang="en-US" sz="1100" dirty="0">
                <a:solidFill>
                  <a:schemeClr val="tx1"/>
                </a:solidFill>
              </a:rPr>
              <a:t> conoce al cotizar. Incluye skids delivered/undelivered y valor de la orden, que no están en los datos históricos.</a:t>
            </a:r>
            <a:endParaRPr lang="en-US" sz="1100" dirty="0"/>
          </a:p>
        </p:txBody>
      </p:sp>
      <p:sp>
        <p:nvSpPr>
          <p:cNvPr id="65" name="Marcador 2">
            <a:extLst>
              <a:ext uri="{FF2B5EF4-FFF2-40B4-BE49-F238E27FC236}">
                <a16:creationId xmlns:a16="http://schemas.microsoft.com/office/drawing/2014/main" id="{D4407B52-CE3E-61BB-5CB8-1250DB85ED46}"/>
              </a:ext>
            </a:extLst>
          </p:cNvPr>
          <p:cNvSpPr txBox="1"/>
          <p:nvPr/>
        </p:nvSpPr>
        <p:spPr>
          <a:xfrm>
            <a:off x="9125712" y="2501319"/>
            <a:ext cx="292608" cy="292608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2</a:t>
            </a:r>
            <a:endParaRPr lang="en-US" sz="1200" dirty="0"/>
          </a:p>
        </p:txBody>
      </p:sp>
      <p:sp>
        <p:nvSpPr>
          <p:cNvPr id="66" name="Text 63">
            <a:extLst>
              <a:ext uri="{FF2B5EF4-FFF2-40B4-BE49-F238E27FC236}">
                <a16:creationId xmlns:a16="http://schemas.microsoft.com/office/drawing/2014/main" id="{1D948F68-7CCE-49A8-D955-25E95CE88960}"/>
              </a:ext>
            </a:extLst>
          </p:cNvPr>
          <p:cNvSpPr txBox="1"/>
          <p:nvPr/>
        </p:nvSpPr>
        <p:spPr>
          <a:xfrm>
            <a:off x="9509760" y="2455599"/>
            <a:ext cx="2240280" cy="598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Costos reales esperados: salen de los dos modelos de regresión, llamados a través de la API.</a:t>
            </a:r>
            <a:endParaRPr lang="en-US" sz="1100" dirty="0"/>
          </a:p>
        </p:txBody>
      </p:sp>
      <p:sp>
        <p:nvSpPr>
          <p:cNvPr id="67" name="Marcador 3">
            <a:extLst>
              <a:ext uri="{FF2B5EF4-FFF2-40B4-BE49-F238E27FC236}">
                <a16:creationId xmlns:a16="http://schemas.microsoft.com/office/drawing/2014/main" id="{198C0053-C84A-CCBB-598C-CDDB3958ACBD}"/>
              </a:ext>
            </a:extLst>
          </p:cNvPr>
          <p:cNvSpPr txBox="1"/>
          <p:nvPr/>
        </p:nvSpPr>
        <p:spPr>
          <a:xfrm>
            <a:off x="9144000" y="3291840"/>
            <a:ext cx="292608" cy="292608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3</a:t>
            </a:r>
            <a:endParaRPr lang="en-US" sz="1200" dirty="0"/>
          </a:p>
        </p:txBody>
      </p:sp>
      <p:sp>
        <p:nvSpPr>
          <p:cNvPr id="68" name="Text 65">
            <a:extLst>
              <a:ext uri="{FF2B5EF4-FFF2-40B4-BE49-F238E27FC236}">
                <a16:creationId xmlns:a16="http://schemas.microsoft.com/office/drawing/2014/main" id="{3FAB0CBE-73D7-4E11-D663-CE2800A2F6A9}"/>
              </a:ext>
            </a:extLst>
          </p:cNvPr>
          <p:cNvSpPr txBox="1"/>
          <p:nvPr/>
        </p:nvSpPr>
        <p:spPr>
          <a:xfrm>
            <a:off x="9528048" y="324612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Reglas del negocio: </a:t>
            </a:r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surcharge = ocean − base rate; </a:t>
            </a:r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land = (land + drayage) × mark up, </a:t>
            </a:r>
            <a:r>
              <a:rPr lang="en-US" sz="1000" dirty="0">
                <a:solidFill>
                  <a:schemeClr val="tx1"/>
                </a:solidFill>
              </a:rPr>
              <a:t>repartido por skids delivered/undelivered</a:t>
            </a:r>
            <a:endParaRPr lang="en-US" sz="1100" dirty="0"/>
          </a:p>
        </p:txBody>
      </p:sp>
      <p:sp>
        <p:nvSpPr>
          <p:cNvPr id="69" name="Marcador 4">
            <a:extLst>
              <a:ext uri="{FF2B5EF4-FFF2-40B4-BE49-F238E27FC236}">
                <a16:creationId xmlns:a16="http://schemas.microsoft.com/office/drawing/2014/main" id="{FEC2F273-FA58-F84C-E2D8-5A88314AA7C3}"/>
              </a:ext>
            </a:extLst>
          </p:cNvPr>
          <p:cNvSpPr txBox="1"/>
          <p:nvPr/>
        </p:nvSpPr>
        <p:spPr>
          <a:xfrm>
            <a:off x="9144000" y="4206240"/>
            <a:ext cx="292608" cy="292608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4</a:t>
            </a:r>
            <a:endParaRPr lang="en-US" sz="1200" dirty="0"/>
          </a:p>
        </p:txBody>
      </p:sp>
      <p:sp>
        <p:nvSpPr>
          <p:cNvPr id="70" name="Text 67">
            <a:extLst>
              <a:ext uri="{FF2B5EF4-FFF2-40B4-BE49-F238E27FC236}">
                <a16:creationId xmlns:a16="http://schemas.microsoft.com/office/drawing/2014/main" id="{3A8F5B7B-3A86-A85B-8796-3A42CEDF3A4E}"/>
              </a:ext>
            </a:extLst>
          </p:cNvPr>
          <p:cNvSpPr txBox="1"/>
          <p:nvPr/>
        </p:nvSpPr>
        <p:spPr>
          <a:xfrm>
            <a:off x="9528048" y="4160520"/>
            <a:ext cx="2240280" cy="629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Responde la pregunta: cuánto pagará el cliente y qué % representa sobre su </a:t>
            </a:r>
            <a:r>
              <a:rPr lang="en-US" sz="1100" dirty="0" err="1">
                <a:solidFill>
                  <a:schemeClr val="tx1"/>
                </a:solidFill>
              </a:rPr>
              <a:t>orden</a:t>
            </a:r>
            <a:r>
              <a:rPr lang="en-US" sz="1100" dirty="0">
                <a:solidFill>
                  <a:schemeClr val="tx1"/>
                </a:solidFill>
              </a:rPr>
              <a:t>. </a:t>
            </a:r>
            <a:endParaRPr lang="en-US" sz="1100" dirty="0"/>
          </a:p>
        </p:txBody>
      </p:sp>
      <p:sp>
        <p:nvSpPr>
          <p:cNvPr id="71" name="Marcador 5">
            <a:extLst>
              <a:ext uri="{FF2B5EF4-FFF2-40B4-BE49-F238E27FC236}">
                <a16:creationId xmlns:a16="http://schemas.microsoft.com/office/drawing/2014/main" id="{CF6AA44E-E7D3-B44E-40BD-3D321C59482E}"/>
              </a:ext>
            </a:extLst>
          </p:cNvPr>
          <p:cNvSpPr txBox="1"/>
          <p:nvPr/>
        </p:nvSpPr>
        <p:spPr>
          <a:xfrm>
            <a:off x="9144000" y="5120640"/>
            <a:ext cx="292608" cy="292608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5</a:t>
            </a:r>
            <a:endParaRPr lang="en-US" sz="1200" dirty="0"/>
          </a:p>
        </p:txBody>
      </p:sp>
      <p:sp>
        <p:nvSpPr>
          <p:cNvPr id="72" name="Text 69">
            <a:extLst>
              <a:ext uri="{FF2B5EF4-FFF2-40B4-BE49-F238E27FC236}">
                <a16:creationId xmlns:a16="http://schemas.microsoft.com/office/drawing/2014/main" id="{CB66CDF5-8E32-5B6C-C768-230E7736652B}"/>
              </a:ext>
            </a:extLst>
          </p:cNvPr>
          <p:cNvSpPr txBox="1"/>
          <p:nvPr/>
        </p:nvSpPr>
        <p:spPr>
          <a:xfrm>
            <a:off x="9528048" y="5074920"/>
            <a:ext cx="2240280" cy="629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El rango comunica la incertidumbre del mercado de fletes, para evitar sorpresas en la factura.</a:t>
            </a:r>
            <a:endParaRPr lang="en-US" sz="1100" dirty="0"/>
          </a:p>
        </p:txBody>
      </p:sp>
      <p:sp>
        <p:nvSpPr>
          <p:cNvPr id="73" name="Slide Number Placeholder 0">
            <a:extLst>
              <a:ext uri="{FF2B5EF4-FFF2-40B4-BE49-F238E27FC236}">
                <a16:creationId xmlns:a16="http://schemas.microsoft.com/office/drawing/2014/main" id="{6BFBA523-9E1F-24A7-89BF-FC5C617E50EC}"/>
              </a:ext>
            </a:extLst>
          </p:cNvPr>
          <p:cNvSpPr txBox="1">
            <a:spLocks/>
          </p:cNvSpPr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vert="horz" lIns="91440" tIns="45720" rIns="91440" bIns="45720" rtlCol="0" anchor="ctr"/>
          <a:lstStyle>
            <a:defPPr>
              <a:defRPr lang="es-CA"/>
            </a:defPPr>
            <a:lvl1pPr marL="0" algn="r" defTabSz="914400" rtl="0" eaLnBrk="1" latinLnBrk="0" hangingPunct="1">
              <a:defRPr sz="1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7021451-1387-4CA6-816F-3879F97B5CBC}" type="slidenum">
              <a:rPr lang="en-US" smtClean="0"/>
              <a:pPr algn="l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8700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>
            <a:extLst>
              <a:ext uri="{FF2B5EF4-FFF2-40B4-BE49-F238E27FC236}">
                <a16:creationId xmlns:a16="http://schemas.microsoft.com/office/drawing/2014/main" id="{C7C2D44E-D069-9684-3274-C2E6A2D40465}"/>
              </a:ext>
            </a:extLst>
          </p:cNvPr>
          <p:cNvSpPr txBox="1"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chemeClr val="tx2"/>
                </a:solidFill>
              </a:rPr>
              <a:t>Histórico</a:t>
            </a:r>
            <a:r>
              <a:rPr lang="en-US" sz="2600" b="1" dirty="0">
                <a:solidFill>
                  <a:schemeClr val="tx2"/>
                </a:solidFill>
              </a:rPr>
              <a:t> de </a:t>
            </a:r>
            <a:r>
              <a:rPr lang="en-US" sz="2600" b="1" dirty="0" err="1">
                <a:solidFill>
                  <a:schemeClr val="tx2"/>
                </a:solidFill>
              </a:rPr>
              <a:t>costos</a:t>
            </a:r>
            <a:r>
              <a:rPr lang="en-US" sz="2600" b="1" dirty="0">
                <a:solidFill>
                  <a:schemeClr val="tx2"/>
                </a:solidFill>
              </a:rPr>
              <a:t> </a:t>
            </a:r>
            <a:r>
              <a:rPr lang="en-US" sz="1600" b="1" dirty="0">
                <a:solidFill>
                  <a:schemeClr val="tx2"/>
                </a:solidFill>
              </a:rPr>
              <a:t>(</a:t>
            </a:r>
            <a:r>
              <a:rPr lang="en-US" sz="1600" b="1" dirty="0" err="1">
                <a:solidFill>
                  <a:schemeClr val="tx2"/>
                </a:solidFill>
              </a:rPr>
              <a:t>Pestaña</a:t>
            </a:r>
            <a:r>
              <a:rPr lang="en-US" sz="1600" b="1" dirty="0">
                <a:solidFill>
                  <a:schemeClr val="tx2"/>
                </a:solidFill>
              </a:rPr>
              <a:t> 2) </a:t>
            </a:r>
            <a:endParaRPr lang="en-US" sz="2600" dirty="0"/>
          </a:p>
        </p:txBody>
      </p:sp>
      <p:sp>
        <p:nvSpPr>
          <p:cNvPr id="3" name="Barra de pestañas">
            <a:extLst>
              <a:ext uri="{FF2B5EF4-FFF2-40B4-BE49-F238E27FC236}">
                <a16:creationId xmlns:a16="http://schemas.microsoft.com/office/drawing/2014/main" id="{BA21319E-430A-2126-B5CF-CE0872ED760A}"/>
              </a:ext>
            </a:extLst>
          </p:cNvPr>
          <p:cNvSpPr/>
          <p:nvPr/>
        </p:nvSpPr>
        <p:spPr>
          <a:xfrm>
            <a:off x="365760" y="868680"/>
            <a:ext cx="8412480" cy="4114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Pestaña 1">
            <a:extLst>
              <a:ext uri="{FF2B5EF4-FFF2-40B4-BE49-F238E27FC236}">
                <a16:creationId xmlns:a16="http://schemas.microsoft.com/office/drawing/2014/main" id="{6B35C046-298F-AD02-26F8-BF26BDE6DB89}"/>
              </a:ext>
            </a:extLst>
          </p:cNvPr>
          <p:cNvSpPr txBox="1"/>
          <p:nvPr/>
        </p:nvSpPr>
        <p:spPr>
          <a:xfrm>
            <a:off x="411480" y="905256"/>
            <a:ext cx="2286000" cy="338328"/>
          </a:xfrm>
          <a:prstGeom prst="roundRect">
            <a:avLst>
              <a:gd name="adj" fmla="val 21622"/>
            </a:avLst>
          </a:prstGeom>
          <a:solidFill>
            <a:schemeClr val="bg2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 rtlCol="0" anchor="ctr"/>
          <a:lstStyle>
            <a:defPPr>
              <a:defRPr lang="es-CA"/>
            </a:defPPr>
            <a:lvl1pPr indent="0" algn="ctr">
              <a:buNone/>
              <a:defRPr sz="1300"/>
            </a:lvl1pPr>
          </a:lstStyle>
          <a:p>
            <a:r>
              <a:rPr lang="en-US" dirty="0" err="1"/>
              <a:t>Cotizar</a:t>
            </a:r>
            <a:r>
              <a:rPr lang="en-US" dirty="0"/>
              <a:t> </a:t>
            </a:r>
            <a:r>
              <a:rPr lang="en-US" dirty="0" err="1"/>
              <a:t>orden</a:t>
            </a:r>
            <a:endParaRPr lang="en-US" dirty="0"/>
          </a:p>
        </p:txBody>
      </p:sp>
      <p:sp>
        <p:nvSpPr>
          <p:cNvPr id="5" name="Pestaña 2">
            <a:extLst>
              <a:ext uri="{FF2B5EF4-FFF2-40B4-BE49-F238E27FC236}">
                <a16:creationId xmlns:a16="http://schemas.microsoft.com/office/drawing/2014/main" id="{B4D499F2-1660-EE61-FD8C-4D4E53DBBB70}"/>
              </a:ext>
            </a:extLst>
          </p:cNvPr>
          <p:cNvSpPr txBox="1"/>
          <p:nvPr/>
        </p:nvSpPr>
        <p:spPr>
          <a:xfrm>
            <a:off x="2788920" y="905256"/>
            <a:ext cx="2286000" cy="338328"/>
          </a:xfrm>
          <a:prstGeom prst="roundRect">
            <a:avLst>
              <a:gd name="adj" fmla="val 21622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 err="1">
                <a:solidFill>
                  <a:schemeClr val="bg1"/>
                </a:solidFill>
              </a:rPr>
              <a:t>Histórico</a:t>
            </a:r>
            <a:endParaRPr lang="en-US" sz="1300" dirty="0"/>
          </a:p>
        </p:txBody>
      </p:sp>
      <p:sp>
        <p:nvSpPr>
          <p:cNvPr id="6" name="Pestaña 3">
            <a:extLst>
              <a:ext uri="{FF2B5EF4-FFF2-40B4-BE49-F238E27FC236}">
                <a16:creationId xmlns:a16="http://schemas.microsoft.com/office/drawing/2014/main" id="{6BCE3C87-FF43-DD5F-4808-2AA84639821C}"/>
              </a:ext>
            </a:extLst>
          </p:cNvPr>
          <p:cNvSpPr txBox="1"/>
          <p:nvPr/>
        </p:nvSpPr>
        <p:spPr>
          <a:xfrm>
            <a:off x="5166360" y="905256"/>
            <a:ext cx="2286000" cy="338328"/>
          </a:xfrm>
          <a:prstGeom prst="roundRect">
            <a:avLst>
              <a:gd name="adj" fmla="val 21622"/>
            </a:avLst>
          </a:prstGeom>
          <a:solidFill>
            <a:schemeClr val="bg2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 rtlCol="0" anchor="ctr"/>
          <a:lstStyle>
            <a:defPPr>
              <a:defRPr lang="es-CA"/>
            </a:defPPr>
            <a:lvl1pPr indent="0" algn="ctr">
              <a:buNone/>
              <a:defRPr sz="1300"/>
            </a:lvl1pPr>
          </a:lstStyle>
          <a:p>
            <a:r>
              <a:rPr lang="en-US" dirty="0" err="1"/>
              <a:t>Cambios</a:t>
            </a:r>
            <a:r>
              <a:rPr lang="en-US" dirty="0"/>
              <a:t> </a:t>
            </a:r>
            <a:r>
              <a:rPr lang="en-US" dirty="0" err="1"/>
              <a:t>logísticos</a:t>
            </a:r>
            <a:endParaRPr lang="en-US" dirty="0"/>
          </a:p>
        </p:txBody>
      </p:sp>
      <p:sp>
        <p:nvSpPr>
          <p:cNvPr id="7" name="Filtro 1">
            <a:extLst>
              <a:ext uri="{FF2B5EF4-FFF2-40B4-BE49-F238E27FC236}">
                <a16:creationId xmlns:a16="http://schemas.microsoft.com/office/drawing/2014/main" id="{2BE00250-BF98-0FC1-3217-B2EBA8006C19}"/>
              </a:ext>
            </a:extLst>
          </p:cNvPr>
          <p:cNvSpPr txBox="1"/>
          <p:nvPr/>
        </p:nvSpPr>
        <p:spPr>
          <a:xfrm>
            <a:off x="365760" y="1417320"/>
            <a:ext cx="2029968" cy="329184"/>
          </a:xfrm>
          <a:prstGeom prst="rect">
            <a:avLst/>
          </a:prstGeom>
          <a:solidFill>
            <a:schemeClr val="bg2"/>
          </a:solidFill>
          <a:ln w="9525">
            <a:solidFill>
              <a:srgbClr val="C9D1CA"/>
            </a:solidFill>
          </a:ln>
        </p:spPr>
        <p:txBody>
          <a:bodyPr wrap="square" lIns="0" tIns="76200" rIns="7620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Puerto de destino ▾</a:t>
            </a:r>
            <a:endParaRPr lang="en-US" sz="1100" dirty="0"/>
          </a:p>
        </p:txBody>
      </p:sp>
      <p:sp>
        <p:nvSpPr>
          <p:cNvPr id="8" name="Filtro 2">
            <a:extLst>
              <a:ext uri="{FF2B5EF4-FFF2-40B4-BE49-F238E27FC236}">
                <a16:creationId xmlns:a16="http://schemas.microsoft.com/office/drawing/2014/main" id="{CC0E7D71-5368-CCF3-9AD0-9BE7AC2F761B}"/>
              </a:ext>
            </a:extLst>
          </p:cNvPr>
          <p:cNvSpPr txBox="1"/>
          <p:nvPr/>
        </p:nvSpPr>
        <p:spPr>
          <a:xfrm>
            <a:off x="2487168" y="1417320"/>
            <a:ext cx="2029968" cy="329184"/>
          </a:xfrm>
          <a:prstGeom prst="rect">
            <a:avLst/>
          </a:prstGeom>
          <a:solidFill>
            <a:schemeClr val="bg2"/>
          </a:solidFill>
          <a:ln w="9525">
            <a:solidFill>
              <a:srgbClr val="C9D1CA"/>
            </a:solidFill>
          </a:ln>
        </p:spPr>
        <p:txBody>
          <a:bodyPr wrap="square" lIns="0" tIns="76200" rIns="7620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Destino ▾</a:t>
            </a:r>
            <a:endParaRPr lang="en-US" sz="1100" dirty="0"/>
          </a:p>
        </p:txBody>
      </p:sp>
      <p:sp>
        <p:nvSpPr>
          <p:cNvPr id="9" name="Filtro 3">
            <a:extLst>
              <a:ext uri="{FF2B5EF4-FFF2-40B4-BE49-F238E27FC236}">
                <a16:creationId xmlns:a16="http://schemas.microsoft.com/office/drawing/2014/main" id="{A619B42F-020C-99EF-910A-0AA77C367D7A}"/>
              </a:ext>
            </a:extLst>
          </p:cNvPr>
          <p:cNvSpPr txBox="1"/>
          <p:nvPr/>
        </p:nvSpPr>
        <p:spPr>
          <a:xfrm>
            <a:off x="4608576" y="1417320"/>
            <a:ext cx="2029968" cy="329184"/>
          </a:xfrm>
          <a:prstGeom prst="rect">
            <a:avLst/>
          </a:prstGeom>
          <a:solidFill>
            <a:schemeClr val="bg2"/>
          </a:solidFill>
          <a:ln w="9525">
            <a:solidFill>
              <a:srgbClr val="C9D1CA"/>
            </a:solidFill>
          </a:ln>
        </p:spPr>
        <p:txBody>
          <a:bodyPr wrap="square" lIns="0" tIns="76200" rIns="7620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Compañía ▾</a:t>
            </a:r>
            <a:endParaRPr lang="en-US" sz="1100" dirty="0"/>
          </a:p>
        </p:txBody>
      </p:sp>
      <p:sp>
        <p:nvSpPr>
          <p:cNvPr id="10" name="Filtro 4">
            <a:extLst>
              <a:ext uri="{FF2B5EF4-FFF2-40B4-BE49-F238E27FC236}">
                <a16:creationId xmlns:a16="http://schemas.microsoft.com/office/drawing/2014/main" id="{BC32D735-0F13-E70C-B65D-AF14367E02AD}"/>
              </a:ext>
            </a:extLst>
          </p:cNvPr>
          <p:cNvSpPr txBox="1"/>
          <p:nvPr/>
        </p:nvSpPr>
        <p:spPr>
          <a:xfrm>
            <a:off x="6729984" y="1417320"/>
            <a:ext cx="2029968" cy="329184"/>
          </a:xfrm>
          <a:prstGeom prst="rect">
            <a:avLst/>
          </a:prstGeom>
          <a:solidFill>
            <a:schemeClr val="bg2"/>
          </a:solidFill>
          <a:ln w="9525">
            <a:solidFill>
              <a:srgbClr val="C9D1CA"/>
            </a:solidFill>
          </a:ln>
        </p:spPr>
        <p:txBody>
          <a:bodyPr wrap="square" lIns="0" tIns="76200" rIns="7620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Fechas: ene 2024 – oct 2026 ▾</a:t>
            </a:r>
            <a:endParaRPr lang="en-US" sz="1100" dirty="0"/>
          </a:p>
        </p:txBody>
      </p:sp>
      <p:sp>
        <p:nvSpPr>
          <p:cNvPr id="11" name="Marcador 1">
            <a:extLst>
              <a:ext uri="{FF2B5EF4-FFF2-40B4-BE49-F238E27FC236}">
                <a16:creationId xmlns:a16="http://schemas.microsoft.com/office/drawing/2014/main" id="{9AB0E3EF-AE9D-D74A-9B99-F73F17455275}"/>
              </a:ext>
            </a:extLst>
          </p:cNvPr>
          <p:cNvSpPr txBox="1"/>
          <p:nvPr/>
        </p:nvSpPr>
        <p:spPr>
          <a:xfrm>
            <a:off x="8503920" y="1435608"/>
            <a:ext cx="292608" cy="292608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1</a:t>
            </a:r>
            <a:endParaRPr lang="en-US" sz="1200" dirty="0"/>
          </a:p>
        </p:txBody>
      </p:sp>
      <p:sp>
        <p:nvSpPr>
          <p:cNvPr id="12" name="Panel  ">
            <a:extLst>
              <a:ext uri="{FF2B5EF4-FFF2-40B4-BE49-F238E27FC236}">
                <a16:creationId xmlns:a16="http://schemas.microsoft.com/office/drawing/2014/main" id="{EA5856A2-622E-F00E-F111-3247372156DD}"/>
              </a:ext>
            </a:extLst>
          </p:cNvPr>
          <p:cNvSpPr/>
          <p:nvPr/>
        </p:nvSpPr>
        <p:spPr>
          <a:xfrm>
            <a:off x="365760" y="1874520"/>
            <a:ext cx="4114800" cy="2148840"/>
          </a:xfrm>
          <a:prstGeom prst="roundRect">
            <a:avLst>
              <a:gd name="adj" fmla="val 3404"/>
            </a:avLst>
          </a:prstGeom>
          <a:solidFill>
            <a:schemeClr val="bg1"/>
          </a:solidFill>
          <a:ln w="12700">
            <a:solidFill>
              <a:srgbClr val="C9D1CA"/>
            </a:solidFill>
            <a:prstDash val="solid"/>
          </a:ln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1613CF42-0E65-C197-9B3B-218709CC3325}"/>
              </a:ext>
            </a:extLst>
          </p:cNvPr>
          <p:cNvSpPr txBox="1"/>
          <p:nvPr/>
        </p:nvSpPr>
        <p:spPr>
          <a:xfrm>
            <a:off x="502920" y="19476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 </a:t>
            </a:r>
            <a:endParaRPr lang="en-US" sz="1300" dirty="0"/>
          </a:p>
        </p:txBody>
      </p:sp>
      <p:graphicFrame>
        <p:nvGraphicFramePr>
          <p:cNvPr id="14" name="Gráfica por puerto">
            <a:extLst>
              <a:ext uri="{FF2B5EF4-FFF2-40B4-BE49-F238E27FC236}">
                <a16:creationId xmlns:a16="http://schemas.microsoft.com/office/drawing/2014/main" id="{02DE2A1C-ACCF-568B-C69B-1C48FFF3903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06252904"/>
              </p:ext>
            </p:extLst>
          </p:nvPr>
        </p:nvGraphicFramePr>
        <p:xfrm>
          <a:off x="457200" y="1920240"/>
          <a:ext cx="3931920" cy="205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5" name="Marcador 2">
            <a:extLst>
              <a:ext uri="{FF2B5EF4-FFF2-40B4-BE49-F238E27FC236}">
                <a16:creationId xmlns:a16="http://schemas.microsoft.com/office/drawing/2014/main" id="{3D30ACF0-C2BA-15F3-7B2D-F4738E777843}"/>
              </a:ext>
            </a:extLst>
          </p:cNvPr>
          <p:cNvSpPr txBox="1"/>
          <p:nvPr/>
        </p:nvSpPr>
        <p:spPr>
          <a:xfrm>
            <a:off x="4114800" y="1938528"/>
            <a:ext cx="292608" cy="292608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Panel  ">
            <a:extLst>
              <a:ext uri="{FF2B5EF4-FFF2-40B4-BE49-F238E27FC236}">
                <a16:creationId xmlns:a16="http://schemas.microsoft.com/office/drawing/2014/main" id="{C3010C42-C644-8083-93AA-970409D62DB0}"/>
              </a:ext>
            </a:extLst>
          </p:cNvPr>
          <p:cNvSpPr/>
          <p:nvPr/>
        </p:nvSpPr>
        <p:spPr>
          <a:xfrm>
            <a:off x="4663440" y="1874520"/>
            <a:ext cx="4114800" cy="2148840"/>
          </a:xfrm>
          <a:prstGeom prst="roundRect">
            <a:avLst>
              <a:gd name="adj" fmla="val 3404"/>
            </a:avLst>
          </a:prstGeom>
          <a:solidFill>
            <a:schemeClr val="bg1"/>
          </a:solidFill>
          <a:ln w="12700">
            <a:solidFill>
              <a:srgbClr val="C9D1CA"/>
            </a:solidFill>
            <a:prstDash val="solid"/>
          </a:ln>
        </p:spPr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3C6F6BE5-A0FA-9B40-E6A8-177A88F1A850}"/>
              </a:ext>
            </a:extLst>
          </p:cNvPr>
          <p:cNvSpPr txBox="1"/>
          <p:nvPr/>
        </p:nvSpPr>
        <p:spPr>
          <a:xfrm>
            <a:off x="4800600" y="19476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 </a:t>
            </a:r>
            <a:endParaRPr lang="en-US" sz="1300" dirty="0"/>
          </a:p>
        </p:txBody>
      </p:sp>
      <p:graphicFrame>
        <p:nvGraphicFramePr>
          <p:cNvPr id="18" name="Gráfica por mes">
            <a:extLst>
              <a:ext uri="{FF2B5EF4-FFF2-40B4-BE49-F238E27FC236}">
                <a16:creationId xmlns:a16="http://schemas.microsoft.com/office/drawing/2014/main" id="{C5CD1030-483E-C9C5-D479-F02C92B637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21306946"/>
              </p:ext>
            </p:extLst>
          </p:nvPr>
        </p:nvGraphicFramePr>
        <p:xfrm>
          <a:off x="4754880" y="1920240"/>
          <a:ext cx="3931920" cy="205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" name="Marcador 3">
            <a:extLst>
              <a:ext uri="{FF2B5EF4-FFF2-40B4-BE49-F238E27FC236}">
                <a16:creationId xmlns:a16="http://schemas.microsoft.com/office/drawing/2014/main" id="{D69930BF-6310-BDAC-F15F-543DFEF63518}"/>
              </a:ext>
            </a:extLst>
          </p:cNvPr>
          <p:cNvSpPr txBox="1"/>
          <p:nvPr/>
        </p:nvSpPr>
        <p:spPr>
          <a:xfrm>
            <a:off x="8412480" y="1938528"/>
            <a:ext cx="292608" cy="292608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Panel  ">
            <a:extLst>
              <a:ext uri="{FF2B5EF4-FFF2-40B4-BE49-F238E27FC236}">
                <a16:creationId xmlns:a16="http://schemas.microsoft.com/office/drawing/2014/main" id="{9A902B7B-DCED-FCC0-0B6B-02E8161F7E12}"/>
              </a:ext>
            </a:extLst>
          </p:cNvPr>
          <p:cNvSpPr/>
          <p:nvPr/>
        </p:nvSpPr>
        <p:spPr>
          <a:xfrm>
            <a:off x="365760" y="4160520"/>
            <a:ext cx="8412480" cy="2148840"/>
          </a:xfrm>
          <a:prstGeom prst="roundRect">
            <a:avLst>
              <a:gd name="adj" fmla="val 3404"/>
            </a:avLst>
          </a:prstGeom>
          <a:solidFill>
            <a:schemeClr val="bg1"/>
          </a:solidFill>
          <a:ln w="12700">
            <a:solidFill>
              <a:srgbClr val="C9D1CA"/>
            </a:solidFill>
            <a:prstDash val="solid"/>
          </a:ln>
        </p:spPr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35CF091B-6E1A-F3F9-FDA7-6ABADD1BE81F}"/>
              </a:ext>
            </a:extLst>
          </p:cNvPr>
          <p:cNvSpPr txBox="1"/>
          <p:nvPr/>
        </p:nvSpPr>
        <p:spPr>
          <a:xfrm>
            <a:off x="502920" y="423367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 </a:t>
            </a:r>
            <a:endParaRPr lang="en-US" sz="1300" dirty="0"/>
          </a:p>
        </p:txBody>
      </p:sp>
      <p:graphicFrame>
        <p:nvGraphicFramePr>
          <p:cNvPr id="22" name="Gráfica surcharge por ruta">
            <a:extLst>
              <a:ext uri="{FF2B5EF4-FFF2-40B4-BE49-F238E27FC236}">
                <a16:creationId xmlns:a16="http://schemas.microsoft.com/office/drawing/2014/main" id="{DFB188AC-F90E-38D8-FF8E-D2332D6CA7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29181681"/>
              </p:ext>
            </p:extLst>
          </p:nvPr>
        </p:nvGraphicFramePr>
        <p:xfrm>
          <a:off x="457200" y="4206240"/>
          <a:ext cx="8229600" cy="205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3" name="Marcador 4">
            <a:extLst>
              <a:ext uri="{FF2B5EF4-FFF2-40B4-BE49-F238E27FC236}">
                <a16:creationId xmlns:a16="http://schemas.microsoft.com/office/drawing/2014/main" id="{86F0B281-8A56-B635-FDC6-F32E9922BC6E}"/>
              </a:ext>
            </a:extLst>
          </p:cNvPr>
          <p:cNvSpPr txBox="1"/>
          <p:nvPr/>
        </p:nvSpPr>
        <p:spPr>
          <a:xfrm>
            <a:off x="8412480" y="4224528"/>
            <a:ext cx="292608" cy="292608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4</a:t>
            </a:r>
            <a:endParaRPr lang="en-US" sz="1200" dirty="0"/>
          </a:p>
        </p:txBody>
      </p:sp>
      <p:sp>
        <p:nvSpPr>
          <p:cNvPr id="24" name="Panel de anotaciones">
            <a:extLst>
              <a:ext uri="{FF2B5EF4-FFF2-40B4-BE49-F238E27FC236}">
                <a16:creationId xmlns:a16="http://schemas.microsoft.com/office/drawing/2014/main" id="{A6EAD069-4B35-20E9-38AB-1A11FE1956F6}"/>
              </a:ext>
            </a:extLst>
          </p:cNvPr>
          <p:cNvSpPr/>
          <p:nvPr/>
        </p:nvSpPr>
        <p:spPr>
          <a:xfrm>
            <a:off x="9006840" y="868680"/>
            <a:ext cx="2834640" cy="5440680"/>
          </a:xfrm>
          <a:prstGeom prst="roundRect">
            <a:avLst>
              <a:gd name="adj" fmla="val 3226"/>
            </a:avLst>
          </a:prstGeom>
          <a:solidFill>
            <a:srgbClr val="FFF6E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5" name="Text 20">
            <a:extLst>
              <a:ext uri="{FF2B5EF4-FFF2-40B4-BE49-F238E27FC236}">
                <a16:creationId xmlns:a16="http://schemas.microsoft.com/office/drawing/2014/main" id="{C885A9FA-E3B6-C4E6-3488-AB62707AA9D2}"/>
              </a:ext>
            </a:extLst>
          </p:cNvPr>
          <p:cNvSpPr txBox="1"/>
          <p:nvPr/>
        </p:nvSpPr>
        <p:spPr>
          <a:xfrm>
            <a:off x="9144000" y="9601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Relación con la pregunta de negocio</a:t>
            </a:r>
            <a:endParaRPr lang="en-US" sz="1300" dirty="0"/>
          </a:p>
        </p:txBody>
      </p:sp>
      <p:sp>
        <p:nvSpPr>
          <p:cNvPr id="26" name="Marcador 1">
            <a:extLst>
              <a:ext uri="{FF2B5EF4-FFF2-40B4-BE49-F238E27FC236}">
                <a16:creationId xmlns:a16="http://schemas.microsoft.com/office/drawing/2014/main" id="{0484ABB8-2D9D-FFF8-CF3F-F12828DF5E62}"/>
              </a:ext>
            </a:extLst>
          </p:cNvPr>
          <p:cNvSpPr txBox="1"/>
          <p:nvPr/>
        </p:nvSpPr>
        <p:spPr>
          <a:xfrm>
            <a:off x="9144000" y="1463040"/>
            <a:ext cx="292608" cy="292608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1</a:t>
            </a:r>
            <a:endParaRPr lang="en-US" sz="1200" dirty="0"/>
          </a:p>
        </p:txBody>
      </p:sp>
      <p:sp>
        <p:nvSpPr>
          <p:cNvPr id="27" name="Text 22">
            <a:extLst>
              <a:ext uri="{FF2B5EF4-FFF2-40B4-BE49-F238E27FC236}">
                <a16:creationId xmlns:a16="http://schemas.microsoft.com/office/drawing/2014/main" id="{3E4A0488-930A-8B15-7DF2-AF221122EC05}"/>
              </a:ext>
            </a:extLst>
          </p:cNvPr>
          <p:cNvSpPr txBox="1"/>
          <p:nvPr/>
        </p:nvSpPr>
        <p:spPr>
          <a:xfrm>
            <a:off x="9528048" y="14173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Filtros para explorar una ruta o un periodo específico.</a:t>
            </a:r>
            <a:endParaRPr lang="en-US" sz="1100" dirty="0"/>
          </a:p>
        </p:txBody>
      </p:sp>
      <p:sp>
        <p:nvSpPr>
          <p:cNvPr id="28" name="Marcador 2">
            <a:extLst>
              <a:ext uri="{FF2B5EF4-FFF2-40B4-BE49-F238E27FC236}">
                <a16:creationId xmlns:a16="http://schemas.microsoft.com/office/drawing/2014/main" id="{2142D5FF-6922-28B4-7A4F-AC93BD98307D}"/>
              </a:ext>
            </a:extLst>
          </p:cNvPr>
          <p:cNvSpPr txBox="1"/>
          <p:nvPr/>
        </p:nvSpPr>
        <p:spPr>
          <a:xfrm>
            <a:off x="9144000" y="2377440"/>
            <a:ext cx="292608" cy="292608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2</a:t>
            </a:r>
            <a:endParaRPr lang="en-US" sz="1200" dirty="0"/>
          </a:p>
        </p:txBody>
      </p:sp>
      <p:sp>
        <p:nvSpPr>
          <p:cNvPr id="29" name="Text 24">
            <a:extLst>
              <a:ext uri="{FF2B5EF4-FFF2-40B4-BE49-F238E27FC236}">
                <a16:creationId xmlns:a16="http://schemas.microsoft.com/office/drawing/2014/main" id="{1F80F186-4037-17E1-F5AD-187B57CC8495}"/>
              </a:ext>
            </a:extLst>
          </p:cNvPr>
          <p:cNvSpPr txBox="1"/>
          <p:nvPr/>
        </p:nvSpPr>
        <p:spPr>
          <a:xfrm>
            <a:off x="9528048" y="233172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Qué puertos y destinos son </a:t>
            </a:r>
            <a:r>
              <a:rPr lang="en-US" sz="1100" dirty="0" err="1">
                <a:solidFill>
                  <a:schemeClr val="tx1"/>
                </a:solidFill>
              </a:rPr>
              <a:t>más</a:t>
            </a:r>
            <a:r>
              <a:rPr lang="en-US" sz="1100" dirty="0">
                <a:solidFill>
                  <a:schemeClr val="tx1"/>
                </a:solidFill>
              </a:rPr>
              <a:t> </a:t>
            </a:r>
            <a:r>
              <a:rPr lang="en-US" sz="1100" dirty="0" err="1">
                <a:solidFill>
                  <a:schemeClr val="tx1"/>
                </a:solidFill>
              </a:rPr>
              <a:t>caros</a:t>
            </a:r>
            <a:r>
              <a:rPr lang="en-US" sz="1100" dirty="0">
                <a:solidFill>
                  <a:schemeClr val="tx1"/>
                </a:solidFill>
              </a:rPr>
              <a:t>. </a:t>
            </a:r>
            <a:r>
              <a:rPr lang="en-US" sz="1100" dirty="0" err="1">
                <a:solidFill>
                  <a:schemeClr val="tx1"/>
                </a:solidFill>
              </a:rPr>
              <a:t>Esto</a:t>
            </a:r>
            <a:r>
              <a:rPr lang="en-US" sz="1100" dirty="0">
                <a:solidFill>
                  <a:schemeClr val="tx1"/>
                </a:solidFill>
              </a:rPr>
              <a:t> da contexto para explicar el costo al cliente.</a:t>
            </a:r>
            <a:endParaRPr lang="en-US" sz="1100" dirty="0"/>
          </a:p>
        </p:txBody>
      </p:sp>
      <p:sp>
        <p:nvSpPr>
          <p:cNvPr id="30" name="Marcador 3">
            <a:extLst>
              <a:ext uri="{FF2B5EF4-FFF2-40B4-BE49-F238E27FC236}">
                <a16:creationId xmlns:a16="http://schemas.microsoft.com/office/drawing/2014/main" id="{93569966-0630-1FC7-4560-B1EE9A814882}"/>
              </a:ext>
            </a:extLst>
          </p:cNvPr>
          <p:cNvSpPr txBox="1"/>
          <p:nvPr/>
        </p:nvSpPr>
        <p:spPr>
          <a:xfrm>
            <a:off x="9144000" y="3291840"/>
            <a:ext cx="292608" cy="292608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3</a:t>
            </a:r>
            <a:endParaRPr lang="en-US" sz="1200" dirty="0"/>
          </a:p>
        </p:txBody>
      </p:sp>
      <p:sp>
        <p:nvSpPr>
          <p:cNvPr id="31" name="Text 26">
            <a:extLst>
              <a:ext uri="{FF2B5EF4-FFF2-40B4-BE49-F238E27FC236}">
                <a16:creationId xmlns:a16="http://schemas.microsoft.com/office/drawing/2014/main" id="{3AC7D471-0B88-DDC9-CD2D-B46942C7E028}"/>
              </a:ext>
            </a:extLst>
          </p:cNvPr>
          <p:cNvSpPr txBox="1"/>
          <p:nvPr/>
        </p:nvSpPr>
        <p:spPr>
          <a:xfrm>
            <a:off x="9528048" y="3246120"/>
            <a:ext cx="2240280" cy="5965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Temporada: en qué meses sube el flete, para sugerir </a:t>
            </a:r>
            <a:r>
              <a:rPr lang="en-US" sz="1100" dirty="0" err="1">
                <a:solidFill>
                  <a:schemeClr val="tx1"/>
                </a:solidFill>
              </a:rPr>
              <a:t>adelantar</a:t>
            </a:r>
            <a:r>
              <a:rPr lang="en-US" sz="1100" dirty="0">
                <a:solidFill>
                  <a:schemeClr val="tx1"/>
                </a:solidFill>
              </a:rPr>
              <a:t> </a:t>
            </a:r>
            <a:r>
              <a:rPr lang="en-US" sz="1100" dirty="0" err="1">
                <a:solidFill>
                  <a:schemeClr val="tx1"/>
                </a:solidFill>
              </a:rPr>
              <a:t>órdenes</a:t>
            </a:r>
            <a:r>
              <a:rPr lang="en-US" sz="1100" dirty="0">
                <a:solidFill>
                  <a:schemeClr val="tx1"/>
                </a:solidFill>
              </a:rPr>
              <a:t> o </a:t>
            </a:r>
            <a:r>
              <a:rPr lang="en-US" sz="1100" dirty="0" err="1">
                <a:solidFill>
                  <a:schemeClr val="tx1"/>
                </a:solidFill>
              </a:rPr>
              <a:t>mirar</a:t>
            </a:r>
            <a:r>
              <a:rPr lang="en-US" sz="1100" dirty="0">
                <a:solidFill>
                  <a:schemeClr val="tx1"/>
                </a:solidFill>
              </a:rPr>
              <a:t> </a:t>
            </a:r>
            <a:r>
              <a:rPr lang="en-US" sz="1100" dirty="0" err="1">
                <a:solidFill>
                  <a:schemeClr val="tx1"/>
                </a:solidFill>
              </a:rPr>
              <a:t>más</a:t>
            </a:r>
            <a:r>
              <a:rPr lang="en-US" sz="1100" dirty="0">
                <a:solidFill>
                  <a:schemeClr val="tx1"/>
                </a:solidFill>
              </a:rPr>
              <a:t> </a:t>
            </a:r>
            <a:r>
              <a:rPr lang="en-US" sz="1100" dirty="0" err="1">
                <a:solidFill>
                  <a:schemeClr val="tx1"/>
                </a:solidFill>
              </a:rPr>
              <a:t>opciones</a:t>
            </a:r>
            <a:r>
              <a:rPr lang="en-US" sz="1100" dirty="0">
                <a:solidFill>
                  <a:schemeClr val="tx1"/>
                </a:solidFill>
              </a:rPr>
              <a:t> de </a:t>
            </a:r>
            <a:r>
              <a:rPr lang="en-US" sz="1100" dirty="0" err="1">
                <a:solidFill>
                  <a:schemeClr val="tx1"/>
                </a:solidFill>
              </a:rPr>
              <a:t>envío</a:t>
            </a:r>
            <a:r>
              <a:rPr lang="en-US" sz="1100" dirty="0">
                <a:solidFill>
                  <a:schemeClr val="tx1"/>
                </a:solidFill>
              </a:rPr>
              <a:t>.</a:t>
            </a:r>
            <a:endParaRPr lang="en-US" sz="1100" dirty="0"/>
          </a:p>
        </p:txBody>
      </p:sp>
      <p:sp>
        <p:nvSpPr>
          <p:cNvPr id="32" name="Marcador 4">
            <a:extLst>
              <a:ext uri="{FF2B5EF4-FFF2-40B4-BE49-F238E27FC236}">
                <a16:creationId xmlns:a16="http://schemas.microsoft.com/office/drawing/2014/main" id="{1CA6B8E1-B575-29E9-C512-E6681EA7604D}"/>
              </a:ext>
            </a:extLst>
          </p:cNvPr>
          <p:cNvSpPr txBox="1"/>
          <p:nvPr/>
        </p:nvSpPr>
        <p:spPr>
          <a:xfrm>
            <a:off x="9144000" y="4206240"/>
            <a:ext cx="292608" cy="292608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4</a:t>
            </a:r>
            <a:endParaRPr lang="en-US" sz="1200" dirty="0"/>
          </a:p>
        </p:txBody>
      </p:sp>
      <p:sp>
        <p:nvSpPr>
          <p:cNvPr id="33" name="Text 28">
            <a:extLst>
              <a:ext uri="{FF2B5EF4-FFF2-40B4-BE49-F238E27FC236}">
                <a16:creationId xmlns:a16="http://schemas.microsoft.com/office/drawing/2014/main" id="{ECFAA809-EF47-E6CF-77C2-81666BF3A77A}"/>
              </a:ext>
            </a:extLst>
          </p:cNvPr>
          <p:cNvSpPr txBox="1"/>
          <p:nvPr/>
        </p:nvSpPr>
        <p:spPr>
          <a:xfrm>
            <a:off x="9528048" y="4160520"/>
            <a:ext cx="2240280" cy="5965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Dónde el base rate se queda corto frente al </a:t>
            </a:r>
            <a:r>
              <a:rPr lang="en-US" sz="1100" dirty="0" err="1">
                <a:solidFill>
                  <a:schemeClr val="tx1"/>
                </a:solidFill>
              </a:rPr>
              <a:t>costo</a:t>
            </a:r>
            <a:r>
              <a:rPr lang="en-US" sz="1100" dirty="0">
                <a:solidFill>
                  <a:schemeClr val="tx1"/>
                </a:solidFill>
              </a:rPr>
              <a:t> real</a:t>
            </a:r>
            <a:r>
              <a:rPr lang="en-US" sz="1100" dirty="0"/>
              <a:t>? – </a:t>
            </a:r>
            <a:r>
              <a:rPr lang="en-US" sz="1100" dirty="0" err="1"/>
              <a:t>tomar</a:t>
            </a:r>
            <a:r>
              <a:rPr lang="en-US" sz="1100" dirty="0"/>
              <a:t> </a:t>
            </a:r>
            <a:r>
              <a:rPr lang="en-US" sz="1100" dirty="0" err="1"/>
              <a:t>acción</a:t>
            </a:r>
            <a:r>
              <a:rPr lang="en-US" sz="1100" dirty="0"/>
              <a:t> </a:t>
            </a:r>
            <a:r>
              <a:rPr lang="en-US" sz="1100" dirty="0" err="1"/>
              <a:t>en</a:t>
            </a:r>
            <a:r>
              <a:rPr lang="en-US" sz="1100" dirty="0"/>
              <a:t> la </a:t>
            </a:r>
            <a:r>
              <a:rPr lang="en-US" sz="1100" dirty="0" err="1"/>
              <a:t>cotización</a:t>
            </a:r>
            <a:endParaRPr lang="en-US" sz="1100" dirty="0"/>
          </a:p>
        </p:txBody>
      </p:sp>
      <p:sp>
        <p:nvSpPr>
          <p:cNvPr id="34" name="Slide Number Placeholder 0">
            <a:extLst>
              <a:ext uri="{FF2B5EF4-FFF2-40B4-BE49-F238E27FC236}">
                <a16:creationId xmlns:a16="http://schemas.microsoft.com/office/drawing/2014/main" id="{BC1B1DF3-CC94-6C09-30BA-645C169B0960}"/>
              </a:ext>
            </a:extLst>
          </p:cNvPr>
          <p:cNvSpPr txBox="1">
            <a:spLocks/>
          </p:cNvSpPr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vert="horz" lIns="91440" tIns="45720" rIns="91440" bIns="45720" rtlCol="0" anchor="ctr"/>
          <a:lstStyle>
            <a:defPPr>
              <a:defRPr lang="es-CA"/>
            </a:defPPr>
            <a:lvl1pPr marL="0" algn="r" defTabSz="914400" rtl="0" eaLnBrk="1" latinLnBrk="0" hangingPunct="1">
              <a:defRPr sz="1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7021451-1387-4CA6-816F-3879F97B5CBC}" type="slidenum">
              <a:rPr lang="en-US" smtClean="0"/>
              <a:pPr algn="l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126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>
            <a:extLst>
              <a:ext uri="{FF2B5EF4-FFF2-40B4-BE49-F238E27FC236}">
                <a16:creationId xmlns:a16="http://schemas.microsoft.com/office/drawing/2014/main" id="{8586AC06-2616-7527-747D-F14638A3732C}"/>
              </a:ext>
            </a:extLst>
          </p:cNvPr>
          <p:cNvSpPr txBox="1"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chemeClr val="tx2"/>
                </a:solidFill>
              </a:rPr>
              <a:t>Cambios</a:t>
            </a:r>
            <a:r>
              <a:rPr lang="en-US" sz="2600" b="1" dirty="0">
                <a:solidFill>
                  <a:schemeClr val="tx2"/>
                </a:solidFill>
              </a:rPr>
              <a:t> </a:t>
            </a:r>
            <a:r>
              <a:rPr lang="en-US" sz="2600" b="1" dirty="0" err="1">
                <a:solidFill>
                  <a:schemeClr val="tx2"/>
                </a:solidFill>
              </a:rPr>
              <a:t>logísticos</a:t>
            </a:r>
            <a:r>
              <a:rPr lang="en-US" sz="2600" b="1" dirty="0">
                <a:solidFill>
                  <a:schemeClr val="tx2"/>
                </a:solidFill>
              </a:rPr>
              <a:t> </a:t>
            </a:r>
            <a:r>
              <a:rPr lang="en-US" sz="1600" b="1" dirty="0">
                <a:solidFill>
                  <a:schemeClr val="tx2"/>
                </a:solidFill>
              </a:rPr>
              <a:t>(</a:t>
            </a:r>
            <a:r>
              <a:rPr lang="en-US" sz="1600" b="1" dirty="0" err="1">
                <a:solidFill>
                  <a:schemeClr val="tx2"/>
                </a:solidFill>
              </a:rPr>
              <a:t>Pestaña</a:t>
            </a:r>
            <a:r>
              <a:rPr lang="en-US" sz="1600" b="1" dirty="0">
                <a:solidFill>
                  <a:schemeClr val="tx2"/>
                </a:solidFill>
              </a:rPr>
              <a:t> 3)</a:t>
            </a:r>
            <a:endParaRPr lang="en-US" sz="2600" dirty="0"/>
          </a:p>
        </p:txBody>
      </p:sp>
      <p:sp>
        <p:nvSpPr>
          <p:cNvPr id="3" name="Barra de pestañas">
            <a:extLst>
              <a:ext uri="{FF2B5EF4-FFF2-40B4-BE49-F238E27FC236}">
                <a16:creationId xmlns:a16="http://schemas.microsoft.com/office/drawing/2014/main" id="{79DD5FC6-24CC-2AF6-6A16-C2814D06E99C}"/>
              </a:ext>
            </a:extLst>
          </p:cNvPr>
          <p:cNvSpPr/>
          <p:nvPr/>
        </p:nvSpPr>
        <p:spPr>
          <a:xfrm>
            <a:off x="365760" y="868680"/>
            <a:ext cx="8412480" cy="4114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Pestaña 1">
            <a:extLst>
              <a:ext uri="{FF2B5EF4-FFF2-40B4-BE49-F238E27FC236}">
                <a16:creationId xmlns:a16="http://schemas.microsoft.com/office/drawing/2014/main" id="{2042176D-5E38-C08C-C107-B2874AC4CC1F}"/>
              </a:ext>
            </a:extLst>
          </p:cNvPr>
          <p:cNvSpPr txBox="1"/>
          <p:nvPr/>
        </p:nvSpPr>
        <p:spPr>
          <a:xfrm>
            <a:off x="411480" y="905256"/>
            <a:ext cx="2286000" cy="338328"/>
          </a:xfrm>
          <a:prstGeom prst="roundRect">
            <a:avLst>
              <a:gd name="adj" fmla="val 21622"/>
            </a:avLst>
          </a:prstGeom>
          <a:solidFill>
            <a:schemeClr val="bg2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 rtlCol="0" anchor="ctr"/>
          <a:lstStyle>
            <a:defPPr>
              <a:defRPr lang="es-CA"/>
            </a:defPPr>
            <a:lvl1pPr indent="0" algn="ctr">
              <a:buNone/>
              <a:defRPr sz="1300"/>
            </a:lvl1pPr>
          </a:lstStyle>
          <a:p>
            <a:r>
              <a:rPr lang="en-US" dirty="0" err="1"/>
              <a:t>Cotizar</a:t>
            </a:r>
            <a:r>
              <a:rPr lang="en-US" dirty="0"/>
              <a:t> </a:t>
            </a:r>
            <a:r>
              <a:rPr lang="en-US" dirty="0" err="1"/>
              <a:t>orden</a:t>
            </a:r>
            <a:endParaRPr lang="en-US" dirty="0"/>
          </a:p>
        </p:txBody>
      </p:sp>
      <p:sp>
        <p:nvSpPr>
          <p:cNvPr id="5" name="Pestaña 2">
            <a:extLst>
              <a:ext uri="{FF2B5EF4-FFF2-40B4-BE49-F238E27FC236}">
                <a16:creationId xmlns:a16="http://schemas.microsoft.com/office/drawing/2014/main" id="{C16CDBD5-7323-97A5-54D5-FF76D342540E}"/>
              </a:ext>
            </a:extLst>
          </p:cNvPr>
          <p:cNvSpPr txBox="1"/>
          <p:nvPr/>
        </p:nvSpPr>
        <p:spPr>
          <a:xfrm>
            <a:off x="2788920" y="905256"/>
            <a:ext cx="2286000" cy="338328"/>
          </a:xfrm>
          <a:prstGeom prst="roundRect">
            <a:avLst>
              <a:gd name="adj" fmla="val 21622"/>
            </a:avLst>
          </a:prstGeom>
          <a:solidFill>
            <a:schemeClr val="bg2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 rtlCol="0" anchor="ctr"/>
          <a:lstStyle>
            <a:defPPr>
              <a:defRPr lang="es-CA"/>
            </a:defPPr>
            <a:lvl1pPr indent="0" algn="ctr">
              <a:buNone/>
              <a:defRPr sz="1300"/>
            </a:lvl1pPr>
          </a:lstStyle>
          <a:p>
            <a:r>
              <a:rPr lang="en-US" dirty="0" err="1"/>
              <a:t>Histórico</a:t>
            </a:r>
            <a:endParaRPr lang="en-US" dirty="0"/>
          </a:p>
        </p:txBody>
      </p:sp>
      <p:sp>
        <p:nvSpPr>
          <p:cNvPr id="6" name="Pestaña 3">
            <a:extLst>
              <a:ext uri="{FF2B5EF4-FFF2-40B4-BE49-F238E27FC236}">
                <a16:creationId xmlns:a16="http://schemas.microsoft.com/office/drawing/2014/main" id="{9B411852-4476-A542-3F9B-F647D6ADE1D1}"/>
              </a:ext>
            </a:extLst>
          </p:cNvPr>
          <p:cNvSpPr txBox="1"/>
          <p:nvPr/>
        </p:nvSpPr>
        <p:spPr>
          <a:xfrm>
            <a:off x="5166360" y="905256"/>
            <a:ext cx="2286000" cy="338328"/>
          </a:xfrm>
          <a:prstGeom prst="roundRect">
            <a:avLst>
              <a:gd name="adj" fmla="val 21622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 err="1">
                <a:solidFill>
                  <a:schemeClr val="bg1"/>
                </a:solidFill>
              </a:rPr>
              <a:t>Cambios</a:t>
            </a:r>
            <a:r>
              <a:rPr lang="en-US" sz="1300" b="1" dirty="0">
                <a:solidFill>
                  <a:schemeClr val="bg1"/>
                </a:solidFill>
              </a:rPr>
              <a:t> logísticos</a:t>
            </a:r>
            <a:endParaRPr lang="en-US" sz="1300" dirty="0"/>
          </a:p>
        </p:txBody>
      </p:sp>
      <p:sp>
        <p:nvSpPr>
          <p:cNvPr id="7" name="Indicador Cut offs">
            <a:extLst>
              <a:ext uri="{FF2B5EF4-FFF2-40B4-BE49-F238E27FC236}">
                <a16:creationId xmlns:a16="http://schemas.microsoft.com/office/drawing/2014/main" id="{1670A1F6-ED0B-9915-B0CD-CF68B500BEFA}"/>
              </a:ext>
            </a:extLst>
          </p:cNvPr>
          <p:cNvSpPr/>
          <p:nvPr/>
        </p:nvSpPr>
        <p:spPr>
          <a:xfrm>
            <a:off x="365760" y="1417320"/>
            <a:ext cx="2029968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5290BDB-302B-D911-9E74-9EB67A08CAB9}"/>
              </a:ext>
            </a:extLst>
          </p:cNvPr>
          <p:cNvSpPr txBox="1"/>
          <p:nvPr/>
        </p:nvSpPr>
        <p:spPr>
          <a:xfrm>
            <a:off x="502920" y="14630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XXX</a:t>
            </a:r>
            <a:endParaRPr lang="en-US" sz="24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299561A-0F17-0E5C-00C9-51152C934D5B}"/>
              </a:ext>
            </a:extLst>
          </p:cNvPr>
          <p:cNvSpPr txBox="1"/>
          <p:nvPr/>
        </p:nvSpPr>
        <p:spPr>
          <a:xfrm>
            <a:off x="502920" y="19659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Cut offs</a:t>
            </a:r>
            <a:endParaRPr lang="en-US" sz="1100" dirty="0"/>
          </a:p>
        </p:txBody>
      </p:sp>
      <p:sp>
        <p:nvSpPr>
          <p:cNvPr id="10" name="Indicador Cambios a 20FT">
            <a:extLst>
              <a:ext uri="{FF2B5EF4-FFF2-40B4-BE49-F238E27FC236}">
                <a16:creationId xmlns:a16="http://schemas.microsoft.com/office/drawing/2014/main" id="{F1B57AC9-107C-575E-A376-42E487C24188}"/>
              </a:ext>
            </a:extLst>
          </p:cNvPr>
          <p:cNvSpPr/>
          <p:nvPr/>
        </p:nvSpPr>
        <p:spPr>
          <a:xfrm>
            <a:off x="2487168" y="1417320"/>
            <a:ext cx="2029968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E0183B07-0DCD-9C00-0436-0BD14159E185}"/>
              </a:ext>
            </a:extLst>
          </p:cNvPr>
          <p:cNvSpPr txBox="1"/>
          <p:nvPr/>
        </p:nvSpPr>
        <p:spPr>
          <a:xfrm>
            <a:off x="2624328" y="14630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X</a:t>
            </a:r>
            <a:endParaRPr lang="en-US" sz="24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44EF1E88-5C13-3026-3E71-C10FF023AD46}"/>
              </a:ext>
            </a:extLst>
          </p:cNvPr>
          <p:cNvSpPr txBox="1"/>
          <p:nvPr/>
        </p:nvSpPr>
        <p:spPr>
          <a:xfrm>
            <a:off x="2624328" y="19659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Cambios a 20FT</a:t>
            </a:r>
            <a:endParaRPr lang="en-US" sz="1100" dirty="0"/>
          </a:p>
        </p:txBody>
      </p:sp>
      <p:sp>
        <p:nvSpPr>
          <p:cNvPr id="13" name="Indicador Cambios a LCL">
            <a:extLst>
              <a:ext uri="{FF2B5EF4-FFF2-40B4-BE49-F238E27FC236}">
                <a16:creationId xmlns:a16="http://schemas.microsoft.com/office/drawing/2014/main" id="{F1CB6286-2E3A-B94D-7FE8-6F5792E63F5F}"/>
              </a:ext>
            </a:extLst>
          </p:cNvPr>
          <p:cNvSpPr/>
          <p:nvPr/>
        </p:nvSpPr>
        <p:spPr>
          <a:xfrm>
            <a:off x="4608576" y="1417320"/>
            <a:ext cx="2029968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809C659B-F415-C1D3-6C3D-9477388722C9}"/>
              </a:ext>
            </a:extLst>
          </p:cNvPr>
          <p:cNvSpPr txBox="1"/>
          <p:nvPr/>
        </p:nvSpPr>
        <p:spPr>
          <a:xfrm>
            <a:off x="4745736" y="14630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X</a:t>
            </a:r>
            <a:endParaRPr lang="en-US" sz="24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1481556-F84C-6AC0-95C9-F8752E255047}"/>
              </a:ext>
            </a:extLst>
          </p:cNvPr>
          <p:cNvSpPr txBox="1"/>
          <p:nvPr/>
        </p:nvSpPr>
        <p:spPr>
          <a:xfrm>
            <a:off x="4745736" y="19659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Cambios a LCL</a:t>
            </a:r>
            <a:endParaRPr lang="en-US" sz="1100" dirty="0"/>
          </a:p>
        </p:txBody>
      </p:sp>
      <p:sp>
        <p:nvSpPr>
          <p:cNvPr id="16" name="Indicador Sobrecosto promedio">
            <a:extLst>
              <a:ext uri="{FF2B5EF4-FFF2-40B4-BE49-F238E27FC236}">
                <a16:creationId xmlns:a16="http://schemas.microsoft.com/office/drawing/2014/main" id="{706AFBCE-F9CB-069E-F669-5BFE5997FF58}"/>
              </a:ext>
            </a:extLst>
          </p:cNvPr>
          <p:cNvSpPr/>
          <p:nvPr/>
        </p:nvSpPr>
        <p:spPr>
          <a:xfrm>
            <a:off x="6729984" y="1417320"/>
            <a:ext cx="2029968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00D88DD6-6F54-5463-180D-0E7A2FBB9E60}"/>
              </a:ext>
            </a:extLst>
          </p:cNvPr>
          <p:cNvSpPr txBox="1"/>
          <p:nvPr/>
        </p:nvSpPr>
        <p:spPr>
          <a:xfrm>
            <a:off x="6867144" y="14630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5"/>
                </a:solidFill>
              </a:rPr>
              <a:t>$ X.XXX</a:t>
            </a:r>
            <a:endParaRPr lang="en-US" sz="24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821423C9-B3FE-F1D1-A2A3-0C5815C1C2BD}"/>
              </a:ext>
            </a:extLst>
          </p:cNvPr>
          <p:cNvSpPr txBox="1"/>
          <p:nvPr/>
        </p:nvSpPr>
        <p:spPr>
          <a:xfrm>
            <a:off x="6867144" y="19659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Sobrecosto promedio</a:t>
            </a:r>
            <a:endParaRPr lang="en-US" sz="1100" dirty="0"/>
          </a:p>
        </p:txBody>
      </p:sp>
      <p:sp>
        <p:nvSpPr>
          <p:cNvPr id="19" name="Marcador 1">
            <a:extLst>
              <a:ext uri="{FF2B5EF4-FFF2-40B4-BE49-F238E27FC236}">
                <a16:creationId xmlns:a16="http://schemas.microsoft.com/office/drawing/2014/main" id="{CDC2889C-0EB7-BC22-D637-A08DED662A26}"/>
              </a:ext>
            </a:extLst>
          </p:cNvPr>
          <p:cNvSpPr txBox="1"/>
          <p:nvPr/>
        </p:nvSpPr>
        <p:spPr>
          <a:xfrm>
            <a:off x="8503920" y="1463040"/>
            <a:ext cx="292608" cy="292608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1</a:t>
            </a:r>
            <a:endParaRPr lang="en-US" sz="1200" dirty="0"/>
          </a:p>
        </p:txBody>
      </p:sp>
      <p:sp>
        <p:nvSpPr>
          <p:cNvPr id="20" name="Panel  ">
            <a:extLst>
              <a:ext uri="{FF2B5EF4-FFF2-40B4-BE49-F238E27FC236}">
                <a16:creationId xmlns:a16="http://schemas.microsoft.com/office/drawing/2014/main" id="{E3E2E811-CD31-DDEF-6B0E-7D046F0BEA12}"/>
              </a:ext>
            </a:extLst>
          </p:cNvPr>
          <p:cNvSpPr/>
          <p:nvPr/>
        </p:nvSpPr>
        <p:spPr>
          <a:xfrm>
            <a:off x="365760" y="2468880"/>
            <a:ext cx="4114800" cy="3840480"/>
          </a:xfrm>
          <a:prstGeom prst="roundRect">
            <a:avLst>
              <a:gd name="adj" fmla="val 1905"/>
            </a:avLst>
          </a:prstGeom>
          <a:solidFill>
            <a:schemeClr val="bg1"/>
          </a:solidFill>
          <a:ln w="12700">
            <a:solidFill>
              <a:srgbClr val="C9D1CA"/>
            </a:solidFill>
            <a:prstDash val="solid"/>
          </a:ln>
        </p:spPr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79707FC6-80F9-055C-7F3C-ABD2E8853AF0}"/>
              </a:ext>
            </a:extLst>
          </p:cNvPr>
          <p:cNvSpPr txBox="1"/>
          <p:nvPr/>
        </p:nvSpPr>
        <p:spPr>
          <a:xfrm>
            <a:off x="502920" y="25420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 </a:t>
            </a:r>
            <a:endParaRPr lang="en-US" sz="1300" dirty="0"/>
          </a:p>
        </p:txBody>
      </p:sp>
      <p:graphicFrame>
        <p:nvGraphicFramePr>
          <p:cNvPr id="22" name="Gráfica causas">
            <a:extLst>
              <a:ext uri="{FF2B5EF4-FFF2-40B4-BE49-F238E27FC236}">
                <a16:creationId xmlns:a16="http://schemas.microsoft.com/office/drawing/2014/main" id="{94E12C8B-2C24-DDCF-BE22-1B02EE7B288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31876001"/>
              </p:ext>
            </p:extLst>
          </p:nvPr>
        </p:nvGraphicFramePr>
        <p:xfrm>
          <a:off x="457200" y="2542032"/>
          <a:ext cx="3931920" cy="3703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3" name="Marcador 2">
            <a:extLst>
              <a:ext uri="{FF2B5EF4-FFF2-40B4-BE49-F238E27FC236}">
                <a16:creationId xmlns:a16="http://schemas.microsoft.com/office/drawing/2014/main" id="{4A86BC66-0B9F-5C04-5B5D-FAB2F19724EA}"/>
              </a:ext>
            </a:extLst>
          </p:cNvPr>
          <p:cNvSpPr txBox="1"/>
          <p:nvPr/>
        </p:nvSpPr>
        <p:spPr>
          <a:xfrm>
            <a:off x="4114800" y="2542032"/>
            <a:ext cx="292608" cy="292608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2</a:t>
            </a:r>
            <a:endParaRPr lang="en-US" sz="1200" dirty="0"/>
          </a:p>
        </p:txBody>
      </p:sp>
      <p:sp>
        <p:nvSpPr>
          <p:cNvPr id="24" name="Panel Rutas desviadas">
            <a:extLst>
              <a:ext uri="{FF2B5EF4-FFF2-40B4-BE49-F238E27FC236}">
                <a16:creationId xmlns:a16="http://schemas.microsoft.com/office/drawing/2014/main" id="{CEB570C6-6428-98CF-B969-D3094C4F429C}"/>
              </a:ext>
            </a:extLst>
          </p:cNvPr>
          <p:cNvSpPr/>
          <p:nvPr/>
        </p:nvSpPr>
        <p:spPr>
          <a:xfrm>
            <a:off x="4663440" y="2468880"/>
            <a:ext cx="4114800" cy="3840480"/>
          </a:xfrm>
          <a:prstGeom prst="roundRect">
            <a:avLst>
              <a:gd name="adj" fmla="val 1905"/>
            </a:avLst>
          </a:prstGeom>
          <a:solidFill>
            <a:schemeClr val="bg1"/>
          </a:solidFill>
          <a:ln w="12700">
            <a:solidFill>
              <a:srgbClr val="C9D1CA"/>
            </a:solidFill>
            <a:prstDash val="solid"/>
          </a:ln>
        </p:spPr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E91A00D4-BC4F-8F36-A3D6-EA29330A3002}"/>
              </a:ext>
            </a:extLst>
          </p:cNvPr>
          <p:cNvSpPr txBox="1"/>
          <p:nvPr/>
        </p:nvSpPr>
        <p:spPr>
          <a:xfrm>
            <a:off x="4800600" y="25420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Rutas desviadas</a:t>
            </a:r>
            <a:endParaRPr lang="en-US" sz="1300" dirty="0"/>
          </a:p>
        </p:txBody>
      </p:sp>
      <p:graphicFrame>
        <p:nvGraphicFramePr>
          <p:cNvPr id="26" name="Tabla rutas">
            <a:extLst>
              <a:ext uri="{FF2B5EF4-FFF2-40B4-BE49-F238E27FC236}">
                <a16:creationId xmlns:a16="http://schemas.microsoft.com/office/drawing/2014/main" id="{E6F2AA03-B000-0BCC-FE3C-4C462FA3D1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8569180"/>
              </p:ext>
            </p:extLst>
          </p:nvPr>
        </p:nvGraphicFramePr>
        <p:xfrm>
          <a:off x="4800600" y="2926080"/>
          <a:ext cx="3840480" cy="164592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Destino original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9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Destino nuevo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9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Órdenes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9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Sobrecosto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9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Toronto, 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9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Vancouver, BC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9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XX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9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$ X.XXX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9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Chicago, IL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9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Los Ángeles, CA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9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XX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9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$ X.XXX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9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Savannah, GA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9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Norfolk, VA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9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XX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9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$ X.XXX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9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9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9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9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9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7" name="Text 23">
            <a:extLst>
              <a:ext uri="{FF2B5EF4-FFF2-40B4-BE49-F238E27FC236}">
                <a16:creationId xmlns:a16="http://schemas.microsoft.com/office/drawing/2014/main" id="{311F0C88-68B0-9B82-2E27-60805D7FF38F}"/>
              </a:ext>
            </a:extLst>
          </p:cNvPr>
          <p:cNvSpPr txBox="1"/>
          <p:nvPr/>
        </p:nvSpPr>
        <p:spPr>
          <a:xfrm>
            <a:off x="4800600" y="475488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55555"/>
                </a:solidFill>
              </a:rPr>
              <a:t>El land freight desde el puerto desviado suele multiplicar el costo total, aunque el ocean sea más barato.</a:t>
            </a:r>
            <a:endParaRPr lang="en-US" sz="1100" dirty="0"/>
          </a:p>
        </p:txBody>
      </p:sp>
      <p:sp>
        <p:nvSpPr>
          <p:cNvPr id="28" name="Marcador 3">
            <a:extLst>
              <a:ext uri="{FF2B5EF4-FFF2-40B4-BE49-F238E27FC236}">
                <a16:creationId xmlns:a16="http://schemas.microsoft.com/office/drawing/2014/main" id="{4547C0BB-55EE-D74D-A7F3-F29B8176830F}"/>
              </a:ext>
            </a:extLst>
          </p:cNvPr>
          <p:cNvSpPr txBox="1"/>
          <p:nvPr/>
        </p:nvSpPr>
        <p:spPr>
          <a:xfrm>
            <a:off x="8366760" y="2542032"/>
            <a:ext cx="292608" cy="292608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3</a:t>
            </a:r>
            <a:endParaRPr lang="en-US" sz="1200" dirty="0"/>
          </a:p>
        </p:txBody>
      </p:sp>
      <p:sp>
        <p:nvSpPr>
          <p:cNvPr id="29" name="Panel de anotaciones">
            <a:extLst>
              <a:ext uri="{FF2B5EF4-FFF2-40B4-BE49-F238E27FC236}">
                <a16:creationId xmlns:a16="http://schemas.microsoft.com/office/drawing/2014/main" id="{8BEA6AD5-4257-2C6A-D6F9-02AA1D4E4C0E}"/>
              </a:ext>
            </a:extLst>
          </p:cNvPr>
          <p:cNvSpPr/>
          <p:nvPr/>
        </p:nvSpPr>
        <p:spPr>
          <a:xfrm>
            <a:off x="9006840" y="868680"/>
            <a:ext cx="2834640" cy="5440680"/>
          </a:xfrm>
          <a:prstGeom prst="roundRect">
            <a:avLst>
              <a:gd name="adj" fmla="val 3226"/>
            </a:avLst>
          </a:prstGeom>
          <a:solidFill>
            <a:srgbClr val="FFF6E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0" name="Text 26">
            <a:extLst>
              <a:ext uri="{FF2B5EF4-FFF2-40B4-BE49-F238E27FC236}">
                <a16:creationId xmlns:a16="http://schemas.microsoft.com/office/drawing/2014/main" id="{E9A2F0CF-562C-216D-324C-2F404573A88B}"/>
              </a:ext>
            </a:extLst>
          </p:cNvPr>
          <p:cNvSpPr txBox="1"/>
          <p:nvPr/>
        </p:nvSpPr>
        <p:spPr>
          <a:xfrm>
            <a:off x="9144000" y="9601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Relación con la pregunta de negocio</a:t>
            </a:r>
            <a:endParaRPr lang="en-US" sz="1300" dirty="0"/>
          </a:p>
        </p:txBody>
      </p:sp>
      <p:sp>
        <p:nvSpPr>
          <p:cNvPr id="31" name="Marcador 1">
            <a:extLst>
              <a:ext uri="{FF2B5EF4-FFF2-40B4-BE49-F238E27FC236}">
                <a16:creationId xmlns:a16="http://schemas.microsoft.com/office/drawing/2014/main" id="{33735A92-A921-C833-E336-D6091B631745}"/>
              </a:ext>
            </a:extLst>
          </p:cNvPr>
          <p:cNvSpPr txBox="1"/>
          <p:nvPr/>
        </p:nvSpPr>
        <p:spPr>
          <a:xfrm>
            <a:off x="9144000" y="1463040"/>
            <a:ext cx="292608" cy="292608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1</a:t>
            </a:r>
            <a:endParaRPr lang="en-US" sz="1200" dirty="0"/>
          </a:p>
        </p:txBody>
      </p:sp>
      <p:sp>
        <p:nvSpPr>
          <p:cNvPr id="32" name="Text 28">
            <a:extLst>
              <a:ext uri="{FF2B5EF4-FFF2-40B4-BE49-F238E27FC236}">
                <a16:creationId xmlns:a16="http://schemas.microsoft.com/office/drawing/2014/main" id="{86F3021A-5E31-8BBC-A9AE-A9132EE62757}"/>
              </a:ext>
            </a:extLst>
          </p:cNvPr>
          <p:cNvSpPr txBox="1"/>
          <p:nvPr/>
        </p:nvSpPr>
        <p:spPr>
          <a:xfrm>
            <a:off x="9528048" y="14173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Cuántos cambios logísticos hubo y cuánto costaron en promedio.</a:t>
            </a:r>
            <a:endParaRPr lang="en-US" sz="1100" dirty="0"/>
          </a:p>
        </p:txBody>
      </p:sp>
      <p:sp>
        <p:nvSpPr>
          <p:cNvPr id="33" name="Marcador 2">
            <a:extLst>
              <a:ext uri="{FF2B5EF4-FFF2-40B4-BE49-F238E27FC236}">
                <a16:creationId xmlns:a16="http://schemas.microsoft.com/office/drawing/2014/main" id="{8E8345E6-32EB-5FAD-12AD-7B5D3397156D}"/>
              </a:ext>
            </a:extLst>
          </p:cNvPr>
          <p:cNvSpPr txBox="1"/>
          <p:nvPr/>
        </p:nvSpPr>
        <p:spPr>
          <a:xfrm>
            <a:off x="9144000" y="2377440"/>
            <a:ext cx="292608" cy="292608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2</a:t>
            </a:r>
            <a:endParaRPr lang="en-US" sz="1200" dirty="0"/>
          </a:p>
        </p:txBody>
      </p:sp>
      <p:sp>
        <p:nvSpPr>
          <p:cNvPr id="34" name="Text 30">
            <a:extLst>
              <a:ext uri="{FF2B5EF4-FFF2-40B4-BE49-F238E27FC236}">
                <a16:creationId xmlns:a16="http://schemas.microsoft.com/office/drawing/2014/main" id="{D9026A59-A7B7-8582-A635-AC9820E3107C}"/>
              </a:ext>
            </a:extLst>
          </p:cNvPr>
          <p:cNvSpPr txBox="1"/>
          <p:nvPr/>
        </p:nvSpPr>
        <p:spPr>
          <a:xfrm>
            <a:off x="9528048" y="233172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Por qué ocurren los cut offs: ayuda a prevenirlos y a explicarlos al </a:t>
            </a:r>
            <a:r>
              <a:rPr lang="en-US" sz="1100" dirty="0" err="1">
                <a:solidFill>
                  <a:schemeClr val="tx1"/>
                </a:solidFill>
              </a:rPr>
              <a:t>cliente</a:t>
            </a:r>
            <a:r>
              <a:rPr lang="en-US" sz="1100" dirty="0">
                <a:solidFill>
                  <a:schemeClr val="tx1"/>
                </a:solidFill>
              </a:rPr>
              <a:t> y a </a:t>
            </a:r>
            <a:r>
              <a:rPr lang="en-US" sz="1100" dirty="0" err="1">
                <a:solidFill>
                  <a:schemeClr val="tx1"/>
                </a:solidFill>
              </a:rPr>
              <a:t>ventas</a:t>
            </a:r>
            <a:r>
              <a:rPr lang="en-US" sz="1100" dirty="0">
                <a:solidFill>
                  <a:schemeClr val="tx1"/>
                </a:solidFill>
              </a:rPr>
              <a:t>.</a:t>
            </a:r>
            <a:endParaRPr lang="en-US" sz="1100" dirty="0"/>
          </a:p>
        </p:txBody>
      </p:sp>
      <p:sp>
        <p:nvSpPr>
          <p:cNvPr id="35" name="Marcador 3">
            <a:extLst>
              <a:ext uri="{FF2B5EF4-FFF2-40B4-BE49-F238E27FC236}">
                <a16:creationId xmlns:a16="http://schemas.microsoft.com/office/drawing/2014/main" id="{DEC1041B-EF7A-E13F-A9DC-8BF0F0BF2875}"/>
              </a:ext>
            </a:extLst>
          </p:cNvPr>
          <p:cNvSpPr txBox="1"/>
          <p:nvPr/>
        </p:nvSpPr>
        <p:spPr>
          <a:xfrm>
            <a:off x="9144000" y="3291840"/>
            <a:ext cx="292608" cy="292608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3</a:t>
            </a:r>
            <a:endParaRPr lang="en-US" sz="1200" dirty="0"/>
          </a:p>
        </p:txBody>
      </p:sp>
      <p:sp>
        <p:nvSpPr>
          <p:cNvPr id="36" name="Text 32">
            <a:extLst>
              <a:ext uri="{FF2B5EF4-FFF2-40B4-BE49-F238E27FC236}">
                <a16:creationId xmlns:a16="http://schemas.microsoft.com/office/drawing/2014/main" id="{C013BEDE-58E4-069F-F0D7-A8F2FB852133}"/>
              </a:ext>
            </a:extLst>
          </p:cNvPr>
          <p:cNvSpPr txBox="1"/>
          <p:nvPr/>
        </p:nvSpPr>
        <p:spPr>
          <a:xfrm>
            <a:off x="9528048" y="324612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Qué desvíos de puerto encarecen más el </a:t>
            </a:r>
            <a:r>
              <a:rPr lang="en-US" sz="1100" dirty="0" err="1">
                <a:solidFill>
                  <a:schemeClr val="tx1"/>
                </a:solidFill>
              </a:rPr>
              <a:t>flete</a:t>
            </a:r>
            <a:r>
              <a:rPr lang="en-US" sz="1100" dirty="0">
                <a:solidFill>
                  <a:schemeClr val="tx1"/>
                </a:solidFill>
              </a:rPr>
              <a:t> </a:t>
            </a:r>
            <a:r>
              <a:rPr lang="en-US" sz="1100" dirty="0" err="1"/>
              <a:t>t</a:t>
            </a:r>
            <a:r>
              <a:rPr lang="en-US" sz="1100" dirty="0" err="1">
                <a:solidFill>
                  <a:schemeClr val="tx1"/>
                </a:solidFill>
              </a:rPr>
              <a:t>errestre</a:t>
            </a:r>
            <a:r>
              <a:rPr lang="en-US" sz="1100" dirty="0"/>
              <a:t>?</a:t>
            </a:r>
          </a:p>
        </p:txBody>
      </p:sp>
      <p:sp>
        <p:nvSpPr>
          <p:cNvPr id="37" name="Slide Number Placeholder 0">
            <a:extLst>
              <a:ext uri="{FF2B5EF4-FFF2-40B4-BE49-F238E27FC236}">
                <a16:creationId xmlns:a16="http://schemas.microsoft.com/office/drawing/2014/main" id="{DCB3A01A-E8DA-BEA0-B66E-C2768C66012F}"/>
              </a:ext>
            </a:extLst>
          </p:cNvPr>
          <p:cNvSpPr txBox="1">
            <a:spLocks/>
          </p:cNvSpPr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vert="horz" lIns="91440" tIns="45720" rIns="91440" bIns="45720" rtlCol="0" anchor="ctr"/>
          <a:lstStyle>
            <a:defPPr>
              <a:defRPr lang="es-CA"/>
            </a:defPPr>
            <a:lvl1pPr marL="0" algn="r" defTabSz="914400" rtl="0" eaLnBrk="1" latinLnBrk="0" hangingPunct="1">
              <a:defRPr sz="1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7021451-1387-4CA6-816F-3879F97B5CBC}" type="slidenum">
              <a:rPr lang="en-US" smtClean="0"/>
              <a:pPr algn="l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17653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587</Words>
  <Application>Microsoft Macintosh PowerPoint</Application>
  <PresentationFormat>Panorámica</PresentationFormat>
  <Paragraphs>148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Laura Tacha C</dc:creator>
  <cp:lastModifiedBy>Laura Tacha C</cp:lastModifiedBy>
  <cp:revision>1</cp:revision>
  <dcterms:created xsi:type="dcterms:W3CDTF">2026-10-24T01:18:39Z</dcterms:created>
  <dcterms:modified xsi:type="dcterms:W3CDTF">2026-10-24T01:47:48Z</dcterms:modified>
</cp:coreProperties>
</file>